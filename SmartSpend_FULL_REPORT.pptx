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_rels/presentation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11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11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</p:sldIdLst>
  <p:sldSz cx="9144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65A12CA8-AC2A-4415-88FB-D596F781F93F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711B7CAF-6583-40A6-912D-3C86912E9F52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E4271930-17DB-4ABF-8930-024746F0E1BD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9CE178C5-68A0-4C7C-BB8B-55626D9F0181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680D50BD-0129-45AD-8407-4BD86FD4CF05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457200" y="273600"/>
            <a:ext cx="8229240" cy="53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3B3DBACC-F3F7-4A05-ACC7-03AB4BA2C500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8857A41A-97CD-4CCF-B485-4201798A66BC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BBA82367-75D9-4A1D-AD70-1580D51F6B35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12B4CFF9-9BCD-4DDC-A4B8-60F9E33EE208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2BC36620-6154-4D62-8418-80800F1957BE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A4BF795E-1874-4836-BE50-7EE6B62748A5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510A3F19-DB10-476C-961B-D969564216DD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ftr" idx="1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algn="ctr">
              <a:lnSpc>
                <a:spcPct val="100000"/>
              </a:lnSpc>
              <a:buNone/>
              <a:defRPr b="0" lang="en-IN" sz="1400" spc="-1" strike="noStrike">
                <a:latin typeface="Times New Roman"/>
              </a:defRPr>
            </a:lvl1pPr>
          </a:lstStyle>
          <a:p>
            <a:pPr algn="ctr">
              <a:lnSpc>
                <a:spcPct val="100000"/>
              </a:lnSpc>
              <a:buNone/>
            </a:pPr>
            <a:r>
              <a:rPr b="0" lang="en-IN" sz="1400" spc="-1" strike="noStrike">
                <a:latin typeface="Times New Roman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sldNum" idx="2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4C3A7CAE-C6B1-49EF-929A-25083168029F}" type="slidenum">
              <a:rPr b="0" lang="en-US" sz="1200" spc="-1" strike="noStrike">
                <a:solidFill>
                  <a:srgbClr val="8b8b8b"/>
                </a:solidFill>
                <a:latin typeface="Calibri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3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>
              <a:defRPr b="0" lang="en-IN" sz="1400" spc="-1" strike="noStrike">
                <a:latin typeface="Times New Roman"/>
              </a:defRPr>
            </a:lvl1pPr>
          </a:lstStyle>
          <a:p>
            <a:r>
              <a:rPr b="0" lang="en-IN" sz="1400" spc="-1" strike="noStrike">
                <a:latin typeface="Times New Roman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IN" sz="4400" spc="-1" strike="noStrike">
                <a:latin typeface="Arial"/>
              </a:rPr>
              <a:t>Click to edit the title text format</a:t>
            </a:r>
            <a:endParaRPr b="0" lang="en-IN" sz="4400" spc="-1" strike="noStrike"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3200" spc="-1" strike="noStrike">
                <a:latin typeface="Arial"/>
              </a:rPr>
              <a:t>Click to edit the outline text format</a:t>
            </a:r>
            <a:endParaRPr b="0" lang="en-IN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800" spc="-1" strike="noStrike">
                <a:latin typeface="Arial"/>
              </a:rPr>
              <a:t>Second Outline Level</a:t>
            </a:r>
            <a:endParaRPr b="0" lang="en-IN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400" spc="-1" strike="noStrike">
                <a:latin typeface="Arial"/>
              </a:rPr>
              <a:t>Third Outline Level</a:t>
            </a:r>
            <a:endParaRPr b="0" lang="en-IN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000" spc="-1" strike="noStrike">
                <a:latin typeface="Arial"/>
              </a:rPr>
              <a:t>Fourth Outline Level</a:t>
            </a:r>
            <a:endParaRPr b="0" lang="en-IN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latin typeface="Arial"/>
              </a:rPr>
              <a:t>Fifth Outline Level</a:t>
            </a:r>
            <a:endParaRPr b="0" lang="en-IN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latin typeface="Arial"/>
              </a:rPr>
              <a:t>Sixth Outline Level</a:t>
            </a:r>
            <a:endParaRPr b="0" lang="en-IN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latin typeface="Arial"/>
              </a:rPr>
              <a:t>Seventh Outline Level</a:t>
            </a:r>
            <a:endParaRPr b="0" lang="en-IN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Rectangle 1"/>
          <p:cNvSpPr/>
          <p:nvPr/>
        </p:nvSpPr>
        <p:spPr>
          <a:xfrm>
            <a:off x="0" y="6217920"/>
            <a:ext cx="9143280" cy="639360"/>
          </a:xfrm>
          <a:prstGeom prst="rect">
            <a:avLst/>
          </a:prstGeom>
          <a:solidFill>
            <a:srgbClr val="3882f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42" name="TextBox 2"/>
          <p:cNvSpPr/>
          <p:nvPr/>
        </p:nvSpPr>
        <p:spPr>
          <a:xfrm>
            <a:off x="548640" y="1828800"/>
            <a:ext cx="8046000" cy="75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en-US" sz="4400" spc="-1" strike="noStrike">
                <a:solidFill>
                  <a:srgbClr val="ffffff"/>
                </a:solidFill>
                <a:latin typeface="Calibri"/>
                <a:ea typeface="DejaVu Sans"/>
              </a:rPr>
              <a:t>SmartSpend</a:t>
            </a:r>
            <a:endParaRPr b="0" lang="en-IN" sz="4400" spc="-1" strike="noStrike">
              <a:latin typeface="Arial"/>
            </a:endParaRPr>
          </a:p>
        </p:txBody>
      </p:sp>
      <p:sp>
        <p:nvSpPr>
          <p:cNvPr id="43" name="TextBox 3"/>
          <p:cNvSpPr/>
          <p:nvPr/>
        </p:nvSpPr>
        <p:spPr>
          <a:xfrm>
            <a:off x="548640" y="3108960"/>
            <a:ext cx="8046000" cy="200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cbd5e1"/>
                </a:solidFill>
                <a:latin typeface="Calibri"/>
                <a:ea typeface="DejaVu Sans"/>
              </a:rPr>
              <a:t>AI-Powered Personal Finance &amp; Fraud </a:t>
            </a:r>
            <a:r>
              <a:rPr b="0" lang="en-GB" sz="1800" spc="-1" strike="noStrike">
                <a:solidFill>
                  <a:srgbClr val="cbd5e1"/>
                </a:solidFill>
                <a:latin typeface="Calibri"/>
                <a:ea typeface="DejaVu Sans"/>
              </a:rPr>
              <a:t>DetectionMCA</a:t>
            </a:r>
            <a:r>
              <a:rPr b="0" lang="en-US" sz="1800" spc="-1" strike="noStrike">
                <a:solidFill>
                  <a:srgbClr val="cbd5e1"/>
                </a:solidFill>
                <a:latin typeface="Calibri"/>
                <a:ea typeface="DejaVu Sans"/>
              </a:rPr>
              <a:t> Major Project  ·  23ONMCR-753</a:t>
            </a:r>
            <a:endParaRPr b="0" lang="en-IN" sz="18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endParaRPr b="0" lang="en-IN" sz="18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cbd5e1"/>
                </a:solidFill>
                <a:latin typeface="Calibri"/>
                <a:ea typeface="DejaVu Sans"/>
              </a:rPr>
              <a:t>Submitted by:  </a:t>
            </a:r>
            <a:r>
              <a:rPr b="0" lang="en-GB" sz="1800" spc="-1" strike="noStrike">
                <a:solidFill>
                  <a:srgbClr val="cbd5e1"/>
                </a:solidFill>
                <a:latin typeface="Calibri"/>
                <a:ea typeface="DejaVu Sans"/>
              </a:rPr>
              <a:t>Sanjna Rathour</a:t>
            </a:r>
            <a:r>
              <a:rPr b="0" lang="en-US" sz="1800" spc="-1" strike="noStrike">
                <a:solidFill>
                  <a:srgbClr val="cbd5e1"/>
                </a:solidFill>
                <a:latin typeface="Calibri"/>
                <a:ea typeface="DejaVu Sans"/>
              </a:rPr>
              <a:t> </a:t>
            </a:r>
            <a:br>
              <a:rPr sz="1800"/>
            </a:br>
            <a:r>
              <a:rPr b="0" lang="en-GB" sz="1800" spc="-1" strike="noStrike">
                <a:solidFill>
                  <a:srgbClr val="cbd5e1"/>
                </a:solidFill>
                <a:latin typeface="Calibri"/>
                <a:ea typeface="DejaVu Sans"/>
              </a:rPr>
              <a:t> </a:t>
            </a:r>
            <a:r>
              <a:rPr b="0" lang="en-US" sz="1800" spc="-1" strike="noStrike">
                <a:solidFill>
                  <a:srgbClr val="cbd5e1"/>
                </a:solidFill>
                <a:latin typeface="Calibri"/>
                <a:ea typeface="DejaVu Sans"/>
              </a:rPr>
              <a:t>UID</a:t>
            </a:r>
            <a:r>
              <a:rPr b="0" lang="en-GB" sz="1800" spc="-1" strike="noStrike">
                <a:solidFill>
                  <a:srgbClr val="cbd5e1"/>
                </a:solidFill>
                <a:latin typeface="Calibri"/>
                <a:ea typeface="DejaVu Sans"/>
              </a:rPr>
              <a:t>: </a:t>
            </a:r>
            <a:r>
              <a:rPr b="0" lang="en-GB" sz="1800" spc="-1" strike="noStrike">
                <a:solidFill>
                  <a:srgbClr val="cbd5e1"/>
                </a:solidFill>
                <a:latin typeface="Calibri"/>
                <a:ea typeface="Calibri"/>
              </a:rPr>
              <a:t>O24MCA112017</a:t>
            </a:r>
            <a:endParaRPr b="0" lang="en-IN" sz="18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endParaRPr b="0" lang="en-IN" sz="18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cbd5e1"/>
                </a:solidFill>
                <a:latin typeface="Calibri"/>
                <a:ea typeface="Calibri"/>
              </a:rPr>
              <a:t>Under the guidance of:  Project Coordinator, CU Online</a:t>
            </a:r>
            <a:endParaRPr b="0" lang="en-IN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Rectangle 1"/>
          <p:cNvSpPr/>
          <p:nvPr/>
        </p:nvSpPr>
        <p:spPr>
          <a:xfrm>
            <a:off x="0" y="0"/>
            <a:ext cx="9143280" cy="1005120"/>
          </a:xfrm>
          <a:prstGeom prst="rect">
            <a:avLst/>
          </a:prstGeom>
          <a:solidFill>
            <a:srgbClr val="1e293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45" name="Rectangle 2"/>
          <p:cNvSpPr/>
          <p:nvPr/>
        </p:nvSpPr>
        <p:spPr>
          <a:xfrm>
            <a:off x="0" y="1005840"/>
            <a:ext cx="72360" cy="5851440"/>
          </a:xfrm>
          <a:prstGeom prst="rect">
            <a:avLst/>
          </a:prstGeom>
          <a:solidFill>
            <a:srgbClr val="3882f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46" name="TextBox 3"/>
          <p:cNvSpPr/>
          <p:nvPr/>
        </p:nvSpPr>
        <p:spPr>
          <a:xfrm>
            <a:off x="182880" y="91440"/>
            <a:ext cx="8777520" cy="42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2200" spc="-1" strike="noStrike">
                <a:solidFill>
                  <a:srgbClr val="ffffff"/>
                </a:solidFill>
                <a:latin typeface="Calibri"/>
                <a:ea typeface="DejaVu Sans"/>
              </a:rPr>
              <a:t>Project Synopsis, Hardware &amp; Software Requirements</a:t>
            </a:r>
            <a:endParaRPr b="0" lang="en-IN" sz="2200" spc="-1" strike="noStrike">
              <a:latin typeface="Arial"/>
            </a:endParaRPr>
          </a:p>
        </p:txBody>
      </p:sp>
      <p:sp>
        <p:nvSpPr>
          <p:cNvPr id="47" name="TextBox 4"/>
          <p:cNvSpPr/>
          <p:nvPr/>
        </p:nvSpPr>
        <p:spPr>
          <a:xfrm>
            <a:off x="320040" y="1143000"/>
            <a:ext cx="8503200" cy="30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400" spc="-1" strike="noStrike">
                <a:solidFill>
                  <a:srgbClr val="3882f8"/>
                </a:solidFill>
                <a:latin typeface="Calibri"/>
                <a:ea typeface="DejaVu Sans"/>
              </a:rPr>
              <a:t>▸  </a:t>
            </a:r>
            <a:r>
              <a:rPr b="1" lang="en-US" sz="1400" spc="-1" strike="noStrike">
                <a:solidFill>
                  <a:srgbClr val="3882f8"/>
                </a:solidFill>
                <a:latin typeface="Calibri"/>
                <a:ea typeface="DejaVu Sans"/>
              </a:rPr>
              <a:t>Project Synopsis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48" name="TextBox 5"/>
          <p:cNvSpPr/>
          <p:nvPr/>
        </p:nvSpPr>
        <p:spPr>
          <a:xfrm>
            <a:off x="320040" y="1481400"/>
            <a:ext cx="850320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1e293b"/>
                </a:solidFill>
                <a:latin typeface="Calibri"/>
                <a:ea typeface="DejaVu Sans"/>
              </a:rPr>
              <a:t>      •  </a:t>
            </a:r>
            <a:r>
              <a:rPr b="0" lang="en-US" sz="1200" spc="-1" strike="noStrike">
                <a:solidFill>
                  <a:srgbClr val="1e293b"/>
                </a:solidFill>
                <a:latin typeface="Calibri"/>
                <a:ea typeface="DejaVu Sans"/>
              </a:rPr>
              <a:t>Title: SmartSpend — AI-Powered Personal Finance &amp; Fraud Detection Web App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49" name="TextBox 6"/>
          <p:cNvSpPr/>
          <p:nvPr/>
        </p:nvSpPr>
        <p:spPr>
          <a:xfrm>
            <a:off x="320040" y="1774080"/>
            <a:ext cx="850320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1e293b"/>
                </a:solidFill>
                <a:latin typeface="Calibri"/>
                <a:ea typeface="DejaVu Sans"/>
              </a:rPr>
              <a:t>      •  </a:t>
            </a:r>
            <a:r>
              <a:rPr b="0" lang="en-US" sz="1200" spc="-1" strike="noStrike">
                <a:solidFill>
                  <a:srgbClr val="1e293b"/>
                </a:solidFill>
                <a:latin typeface="Calibri"/>
                <a:ea typeface="DejaVu Sans"/>
              </a:rPr>
              <a:t>Objective: Automate transaction categorisation, spending forecast &amp; fraud detection using ML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50" name="TextBox 7"/>
          <p:cNvSpPr/>
          <p:nvPr/>
        </p:nvSpPr>
        <p:spPr>
          <a:xfrm>
            <a:off x="320040" y="2066400"/>
            <a:ext cx="850320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1e293b"/>
                </a:solidFill>
                <a:latin typeface="Calibri"/>
                <a:ea typeface="DejaVu Sans"/>
              </a:rPr>
              <a:t>      •  </a:t>
            </a:r>
            <a:r>
              <a:rPr b="0" lang="en-US" sz="1200" spc="-1" strike="noStrike">
                <a:solidFill>
                  <a:srgbClr val="1e293b"/>
                </a:solidFill>
                <a:latin typeface="Calibri"/>
                <a:ea typeface="DejaVu Sans"/>
              </a:rPr>
              <a:t>Category: Machine Learning  ·  Software Engineering  ·  Database Management Systems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51" name="TextBox 8"/>
          <p:cNvSpPr/>
          <p:nvPr/>
        </p:nvSpPr>
        <p:spPr>
          <a:xfrm>
            <a:off x="320040" y="2359080"/>
            <a:ext cx="8503200" cy="30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400" spc="-1" strike="noStrike">
                <a:solidFill>
                  <a:srgbClr val="3882f8"/>
                </a:solidFill>
                <a:latin typeface="Calibri"/>
                <a:ea typeface="DejaVu Sans"/>
              </a:rPr>
              <a:t>▸  </a:t>
            </a:r>
            <a:r>
              <a:rPr b="1" lang="en-US" sz="1400" spc="-1" strike="noStrike">
                <a:solidFill>
                  <a:srgbClr val="3882f8"/>
                </a:solidFill>
                <a:latin typeface="Calibri"/>
                <a:ea typeface="DejaVu Sans"/>
              </a:rPr>
              <a:t>Hardware Requirements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52" name="TextBox 9"/>
          <p:cNvSpPr/>
          <p:nvPr/>
        </p:nvSpPr>
        <p:spPr>
          <a:xfrm>
            <a:off x="320040" y="2697480"/>
            <a:ext cx="850320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1e293b"/>
                </a:solidFill>
                <a:latin typeface="Calibri"/>
                <a:ea typeface="DejaVu Sans"/>
              </a:rPr>
              <a:t>      •  </a:t>
            </a:r>
            <a:r>
              <a:rPr b="0" lang="en-US" sz="1200" spc="-1" strike="noStrike">
                <a:solidFill>
                  <a:srgbClr val="1e293b"/>
                </a:solidFill>
                <a:latin typeface="Calibri"/>
                <a:ea typeface="DejaVu Sans"/>
              </a:rPr>
              <a:t>Processor: Intel Core i3 or above (Pentium-IV minimum)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53" name="TextBox 10"/>
          <p:cNvSpPr/>
          <p:nvPr/>
        </p:nvSpPr>
        <p:spPr>
          <a:xfrm>
            <a:off x="320040" y="2990160"/>
            <a:ext cx="850320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1e293b"/>
                </a:solidFill>
                <a:latin typeface="Calibri"/>
                <a:ea typeface="DejaVu Sans"/>
              </a:rPr>
              <a:t>      •  </a:t>
            </a:r>
            <a:r>
              <a:rPr b="0" lang="en-US" sz="1200" spc="-1" strike="noStrike">
                <a:solidFill>
                  <a:srgbClr val="1e293b"/>
                </a:solidFill>
                <a:latin typeface="Calibri"/>
                <a:ea typeface="DejaVu Sans"/>
              </a:rPr>
              <a:t>RAM: 4 GB or above (2 GB minimum)  ·  Storage: 50 GB Hard Disk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54" name="TextBox 11"/>
          <p:cNvSpPr/>
          <p:nvPr/>
        </p:nvSpPr>
        <p:spPr>
          <a:xfrm>
            <a:off x="320040" y="3282840"/>
            <a:ext cx="850320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1e293b"/>
                </a:solidFill>
                <a:latin typeface="Calibri"/>
                <a:ea typeface="DejaVu Sans"/>
              </a:rPr>
              <a:t>      •  </a:t>
            </a:r>
            <a:r>
              <a:rPr b="0" lang="en-US" sz="1200" spc="-1" strike="noStrike">
                <a:solidFill>
                  <a:srgbClr val="1e293b"/>
                </a:solidFill>
                <a:latin typeface="Calibri"/>
                <a:ea typeface="DejaVu Sans"/>
              </a:rPr>
              <a:t>Graphics card, Internet connection, any modern browser-capable device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55" name="TextBox 12"/>
          <p:cNvSpPr/>
          <p:nvPr/>
        </p:nvSpPr>
        <p:spPr>
          <a:xfrm>
            <a:off x="320040" y="3575160"/>
            <a:ext cx="8503200" cy="30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400" spc="-1" strike="noStrike">
                <a:solidFill>
                  <a:srgbClr val="3882f8"/>
                </a:solidFill>
                <a:latin typeface="Calibri"/>
                <a:ea typeface="DejaVu Sans"/>
              </a:rPr>
              <a:t>▸  </a:t>
            </a:r>
            <a:r>
              <a:rPr b="1" lang="en-US" sz="1400" spc="-1" strike="noStrike">
                <a:solidFill>
                  <a:srgbClr val="3882f8"/>
                </a:solidFill>
                <a:latin typeface="Calibri"/>
                <a:ea typeface="DejaVu Sans"/>
              </a:rPr>
              <a:t>Software Requirements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56" name="TextBox 13"/>
          <p:cNvSpPr/>
          <p:nvPr/>
        </p:nvSpPr>
        <p:spPr>
          <a:xfrm>
            <a:off x="320040" y="3913560"/>
            <a:ext cx="850320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1e293b"/>
                </a:solidFill>
                <a:latin typeface="Calibri"/>
                <a:ea typeface="DejaVu Sans"/>
              </a:rPr>
              <a:t>      •  </a:t>
            </a:r>
            <a:r>
              <a:rPr b="0" lang="en-US" sz="1200" spc="-1" strike="noStrike">
                <a:solidFill>
                  <a:srgbClr val="1e293b"/>
                </a:solidFill>
                <a:latin typeface="Calibri"/>
                <a:ea typeface="DejaVu Sans"/>
              </a:rPr>
              <a:t>Frontend IDE: VS Code  ·  Framework: React 18 + Vite + Tailwind CSS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57" name="TextBox 14"/>
          <p:cNvSpPr/>
          <p:nvPr/>
        </p:nvSpPr>
        <p:spPr>
          <a:xfrm>
            <a:off x="320040" y="4206240"/>
            <a:ext cx="850320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1e293b"/>
                </a:solidFill>
                <a:latin typeface="Calibri"/>
                <a:ea typeface="DejaVu Sans"/>
              </a:rPr>
              <a:t>      •  </a:t>
            </a:r>
            <a:r>
              <a:rPr b="0" lang="en-US" sz="1200" spc="-1" strike="noStrike">
                <a:solidFill>
                  <a:srgbClr val="1e293b"/>
                </a:solidFill>
                <a:latin typeface="Calibri"/>
                <a:ea typeface="DejaVu Sans"/>
              </a:rPr>
              <a:t>Backend/RDBMS: Python 3.11 + Flask 3  ·  Database: PostgreSQL 15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58" name="TextBox 15"/>
          <p:cNvSpPr/>
          <p:nvPr/>
        </p:nvSpPr>
        <p:spPr>
          <a:xfrm>
            <a:off x="320040" y="4498920"/>
            <a:ext cx="850320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1e293b"/>
                </a:solidFill>
                <a:latin typeface="Calibri"/>
                <a:ea typeface="DejaVu Sans"/>
              </a:rPr>
              <a:t>      •  </a:t>
            </a:r>
            <a:r>
              <a:rPr b="0" lang="en-US" sz="1200" spc="-1" strike="noStrike">
                <a:solidFill>
                  <a:srgbClr val="1e293b"/>
                </a:solidFill>
                <a:latin typeface="Calibri"/>
                <a:ea typeface="DejaVu Sans"/>
              </a:rPr>
              <a:t>Coding Technology: Python (backend + ML)  ·  JavaScript ES6+ (frontend)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59" name="TextBox 16"/>
          <p:cNvSpPr/>
          <p:nvPr/>
        </p:nvSpPr>
        <p:spPr>
          <a:xfrm>
            <a:off x="320040" y="4791600"/>
            <a:ext cx="850320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1e293b"/>
                </a:solidFill>
                <a:latin typeface="Calibri"/>
                <a:ea typeface="DejaVu Sans"/>
              </a:rPr>
              <a:t>      •  </a:t>
            </a:r>
            <a:r>
              <a:rPr b="0" lang="en-US" sz="1200" spc="-1" strike="noStrike">
                <a:solidFill>
                  <a:srgbClr val="1e293b"/>
                </a:solidFill>
                <a:latin typeface="Calibri"/>
                <a:ea typeface="DejaVu Sans"/>
              </a:rPr>
              <a:t>Internet Technologies: HTTP/REST, TCP/IP, JSON APIs, JWT (RFC 7519)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60" name="TextBox 17"/>
          <p:cNvSpPr/>
          <p:nvPr/>
        </p:nvSpPr>
        <p:spPr>
          <a:xfrm>
            <a:off x="320040" y="5083920"/>
            <a:ext cx="850320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1e293b"/>
                </a:solidFill>
                <a:latin typeface="Calibri"/>
                <a:ea typeface="DejaVu Sans"/>
              </a:rPr>
              <a:t>      •  </a:t>
            </a:r>
            <a:r>
              <a:rPr b="0" lang="en-US" sz="1200" spc="-1" strike="noStrike">
                <a:solidFill>
                  <a:srgbClr val="1e293b"/>
                </a:solidFill>
                <a:latin typeface="Calibri"/>
                <a:ea typeface="DejaVu Sans"/>
              </a:rPr>
              <a:t>Operating System: Linux / Windows / macOS  ·  Containerisation: Docker</a:t>
            </a:r>
            <a:endParaRPr b="0" lang="en-IN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Rectangle 1"/>
          <p:cNvSpPr/>
          <p:nvPr/>
        </p:nvSpPr>
        <p:spPr>
          <a:xfrm>
            <a:off x="0" y="0"/>
            <a:ext cx="9143280" cy="1005120"/>
          </a:xfrm>
          <a:prstGeom prst="rect">
            <a:avLst/>
          </a:prstGeom>
          <a:solidFill>
            <a:srgbClr val="1e293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62" name="Rectangle 2"/>
          <p:cNvSpPr/>
          <p:nvPr/>
        </p:nvSpPr>
        <p:spPr>
          <a:xfrm>
            <a:off x="0" y="1005840"/>
            <a:ext cx="72360" cy="5851440"/>
          </a:xfrm>
          <a:prstGeom prst="rect">
            <a:avLst/>
          </a:prstGeom>
          <a:solidFill>
            <a:srgbClr val="3882f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63" name="TextBox 3"/>
          <p:cNvSpPr/>
          <p:nvPr/>
        </p:nvSpPr>
        <p:spPr>
          <a:xfrm>
            <a:off x="182880" y="91440"/>
            <a:ext cx="8777520" cy="42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2200" spc="-1" strike="noStrike">
                <a:solidFill>
                  <a:srgbClr val="ffffff"/>
                </a:solidFill>
                <a:latin typeface="Calibri"/>
                <a:ea typeface="DejaVu Sans"/>
              </a:rPr>
              <a:t>Chapter 1 — Introduction</a:t>
            </a:r>
            <a:endParaRPr b="0" lang="en-IN" sz="2200" spc="-1" strike="noStrike">
              <a:latin typeface="Arial"/>
            </a:endParaRPr>
          </a:p>
        </p:txBody>
      </p:sp>
      <p:sp>
        <p:nvSpPr>
          <p:cNvPr id="64" name="TextBox 4"/>
          <p:cNvSpPr/>
          <p:nvPr/>
        </p:nvSpPr>
        <p:spPr>
          <a:xfrm>
            <a:off x="320040" y="1143000"/>
            <a:ext cx="8503200" cy="30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400" spc="-1" strike="noStrike">
                <a:solidFill>
                  <a:srgbClr val="3882f8"/>
                </a:solidFill>
                <a:latin typeface="Calibri"/>
                <a:ea typeface="DejaVu Sans"/>
              </a:rPr>
              <a:t>▸  </a:t>
            </a:r>
            <a:r>
              <a:rPr b="1" lang="en-US" sz="1400" spc="-1" strike="noStrike">
                <a:solidFill>
                  <a:srgbClr val="3882f8"/>
                </a:solidFill>
                <a:latin typeface="Calibri"/>
                <a:ea typeface="DejaVu Sans"/>
              </a:rPr>
              <a:t>Overview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65" name="TextBox 5"/>
          <p:cNvSpPr/>
          <p:nvPr/>
        </p:nvSpPr>
        <p:spPr>
          <a:xfrm>
            <a:off x="320040" y="1481400"/>
            <a:ext cx="850320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1e293b"/>
                </a:solidFill>
                <a:latin typeface="Calibri"/>
                <a:ea typeface="DejaVu Sans"/>
              </a:rPr>
              <a:t>      •  </a:t>
            </a:r>
            <a:r>
              <a:rPr b="0" lang="en-US" sz="1200" spc="-1" strike="noStrike">
                <a:solidFill>
                  <a:srgbClr val="1e293b"/>
                </a:solidFill>
                <a:latin typeface="Calibri"/>
                <a:ea typeface="DejaVu Sans"/>
              </a:rPr>
              <a:t>Urban Indians perform 50–150 digital transactions/month (UPI, cards, wallets)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66" name="TextBox 6"/>
          <p:cNvSpPr/>
          <p:nvPr/>
        </p:nvSpPr>
        <p:spPr>
          <a:xfrm>
            <a:off x="320040" y="1774080"/>
            <a:ext cx="850320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1e293b"/>
                </a:solidFill>
                <a:latin typeface="Calibri"/>
                <a:ea typeface="DejaVu Sans"/>
              </a:rPr>
              <a:t>      •  </a:t>
            </a:r>
            <a:r>
              <a:rPr b="0" lang="en-US" sz="1200" spc="-1" strike="noStrike">
                <a:solidFill>
                  <a:srgbClr val="1e293b"/>
                </a:solidFill>
                <a:latin typeface="Calibri"/>
                <a:ea typeface="DejaVu Sans"/>
              </a:rPr>
              <a:t>3 core problems: loss of visibility, no forecasting, fraud exposure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67" name="TextBox 7"/>
          <p:cNvSpPr/>
          <p:nvPr/>
        </p:nvSpPr>
        <p:spPr>
          <a:xfrm>
            <a:off x="320040" y="2066400"/>
            <a:ext cx="8503200" cy="30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400" spc="-1" strike="noStrike">
                <a:solidFill>
                  <a:srgbClr val="3882f8"/>
                </a:solidFill>
                <a:latin typeface="Calibri"/>
                <a:ea typeface="DejaVu Sans"/>
              </a:rPr>
              <a:t>▸  </a:t>
            </a:r>
            <a:r>
              <a:rPr b="1" lang="en-US" sz="1400" spc="-1" strike="noStrike">
                <a:solidFill>
                  <a:srgbClr val="3882f8"/>
                </a:solidFill>
                <a:latin typeface="Calibri"/>
                <a:ea typeface="DejaVu Sans"/>
              </a:rPr>
              <a:t>Problem Statement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68" name="TextBox 8"/>
          <p:cNvSpPr/>
          <p:nvPr/>
        </p:nvSpPr>
        <p:spPr>
          <a:xfrm>
            <a:off x="320040" y="2404800"/>
            <a:ext cx="850320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1e293b"/>
                </a:solidFill>
                <a:latin typeface="Calibri"/>
                <a:ea typeface="DejaVu Sans"/>
              </a:rPr>
              <a:t>      •  </a:t>
            </a:r>
            <a:r>
              <a:rPr b="0" lang="en-US" sz="1200" spc="-1" strike="noStrike">
                <a:solidFill>
                  <a:srgbClr val="1e293b"/>
                </a:solidFill>
                <a:latin typeface="Calibri"/>
                <a:ea typeface="DejaVu Sans"/>
              </a:rPr>
              <a:t>Existing apps (Walnut, Mint, YNAB) use manual/rule-based tagging — no ML, no fraud alerts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69" name="TextBox 9"/>
          <p:cNvSpPr/>
          <p:nvPr/>
        </p:nvSpPr>
        <p:spPr>
          <a:xfrm>
            <a:off x="320040" y="2697480"/>
            <a:ext cx="8503200" cy="30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400" spc="-1" strike="noStrike">
                <a:solidFill>
                  <a:srgbClr val="3882f8"/>
                </a:solidFill>
                <a:latin typeface="Calibri"/>
                <a:ea typeface="DejaVu Sans"/>
              </a:rPr>
              <a:t>▸  </a:t>
            </a:r>
            <a:r>
              <a:rPr b="1" lang="en-US" sz="1400" spc="-1" strike="noStrike">
                <a:solidFill>
                  <a:srgbClr val="3882f8"/>
                </a:solidFill>
                <a:latin typeface="Calibri"/>
                <a:ea typeface="DejaVu Sans"/>
              </a:rPr>
              <a:t>Objectives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70" name="TextBox 10"/>
          <p:cNvSpPr/>
          <p:nvPr/>
        </p:nvSpPr>
        <p:spPr>
          <a:xfrm>
            <a:off x="320040" y="3035880"/>
            <a:ext cx="850320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1e293b"/>
                </a:solidFill>
                <a:latin typeface="Calibri"/>
                <a:ea typeface="DejaVu Sans"/>
              </a:rPr>
              <a:t>      •  </a:t>
            </a:r>
            <a:r>
              <a:rPr b="0" lang="en-US" sz="1200" spc="-1" strike="noStrike">
                <a:solidFill>
                  <a:srgbClr val="1e293b"/>
                </a:solidFill>
                <a:latin typeface="Calibri"/>
                <a:ea typeface="DejaVu Sans"/>
              </a:rPr>
              <a:t>Auto-categorise transactions using ML (TF-IDF + Logistic Regression)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71" name="TextBox 11"/>
          <p:cNvSpPr/>
          <p:nvPr/>
        </p:nvSpPr>
        <p:spPr>
          <a:xfrm>
            <a:off x="320040" y="3328560"/>
            <a:ext cx="850320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1e293b"/>
                </a:solidFill>
                <a:latin typeface="Calibri"/>
                <a:ea typeface="DejaVu Sans"/>
              </a:rPr>
              <a:t>      •  </a:t>
            </a:r>
            <a:r>
              <a:rPr b="0" lang="en-US" sz="1200" spc="-1" strike="noStrike">
                <a:solidFill>
                  <a:srgbClr val="1e293b"/>
                </a:solidFill>
                <a:latin typeface="Calibri"/>
                <a:ea typeface="DejaVu Sans"/>
              </a:rPr>
              <a:t>Forecast 30-day spending using Facebook Prophet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72" name="TextBox 12"/>
          <p:cNvSpPr/>
          <p:nvPr/>
        </p:nvSpPr>
        <p:spPr>
          <a:xfrm>
            <a:off x="320040" y="3620880"/>
            <a:ext cx="850320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1e293b"/>
                </a:solidFill>
                <a:latin typeface="Calibri"/>
                <a:ea typeface="DejaVu Sans"/>
              </a:rPr>
              <a:t>      •  </a:t>
            </a:r>
            <a:r>
              <a:rPr b="0" lang="en-US" sz="1200" spc="-1" strike="noStrike">
                <a:solidFill>
                  <a:srgbClr val="1e293b"/>
                </a:solidFill>
                <a:latin typeface="Calibri"/>
                <a:ea typeface="DejaVu Sans"/>
              </a:rPr>
              <a:t>Detect anomalous/fraudulent transactions using Isolation Forest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73" name="TextBox 13"/>
          <p:cNvSpPr/>
          <p:nvPr/>
        </p:nvSpPr>
        <p:spPr>
          <a:xfrm>
            <a:off x="320040" y="3913560"/>
            <a:ext cx="850320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1e293b"/>
                </a:solidFill>
                <a:latin typeface="Calibri"/>
                <a:ea typeface="DejaVu Sans"/>
              </a:rPr>
              <a:t>      •  </a:t>
            </a:r>
            <a:r>
              <a:rPr b="0" lang="en-US" sz="1200" spc="-1" strike="noStrike">
                <a:solidFill>
                  <a:srgbClr val="1e293b"/>
                </a:solidFill>
                <a:latin typeface="Calibri"/>
                <a:ea typeface="DejaVu Sans"/>
              </a:rPr>
              <a:t>Deliver a secure full-stack web app: Flask + React + PostgreSQL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74" name="TextBox 14"/>
          <p:cNvSpPr/>
          <p:nvPr/>
        </p:nvSpPr>
        <p:spPr>
          <a:xfrm>
            <a:off x="320040" y="4206240"/>
            <a:ext cx="8503200" cy="51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400" spc="-1" strike="noStrike">
                <a:solidFill>
                  <a:srgbClr val="3882f8"/>
                </a:solidFill>
                <a:latin typeface="Calibri"/>
                <a:ea typeface="DejaVu Sans"/>
              </a:rPr>
              <a:t>▸  </a:t>
            </a:r>
            <a:r>
              <a:rPr b="1" lang="en-US" sz="1400" spc="-1" strike="noStrike">
                <a:solidFill>
                  <a:srgbClr val="3882f8"/>
                </a:solidFill>
                <a:latin typeface="Calibri"/>
                <a:ea typeface="DejaVu Sans"/>
              </a:rPr>
              <a:t>Scope: Web app (desktop + mobile), multi-user, CSV import, admin panel, Docker deployment</a:t>
            </a:r>
            <a:endParaRPr b="0" lang="en-IN" sz="1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Rectangle 1"/>
          <p:cNvSpPr/>
          <p:nvPr/>
        </p:nvSpPr>
        <p:spPr>
          <a:xfrm>
            <a:off x="0" y="0"/>
            <a:ext cx="9143280" cy="1005120"/>
          </a:xfrm>
          <a:prstGeom prst="rect">
            <a:avLst/>
          </a:prstGeom>
          <a:solidFill>
            <a:srgbClr val="1e293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76" name="Rectangle 2"/>
          <p:cNvSpPr/>
          <p:nvPr/>
        </p:nvSpPr>
        <p:spPr>
          <a:xfrm>
            <a:off x="0" y="1005840"/>
            <a:ext cx="72360" cy="5851440"/>
          </a:xfrm>
          <a:prstGeom prst="rect">
            <a:avLst/>
          </a:prstGeom>
          <a:solidFill>
            <a:srgbClr val="3882f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77" name="TextBox 3"/>
          <p:cNvSpPr/>
          <p:nvPr/>
        </p:nvSpPr>
        <p:spPr>
          <a:xfrm>
            <a:off x="182880" y="91440"/>
            <a:ext cx="8777520" cy="42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2200" spc="-1" strike="noStrike">
                <a:solidFill>
                  <a:srgbClr val="ffffff"/>
                </a:solidFill>
                <a:latin typeface="Calibri"/>
                <a:ea typeface="DejaVu Sans"/>
              </a:rPr>
              <a:t>Chapter 2 — Literature Review</a:t>
            </a:r>
            <a:endParaRPr b="0" lang="en-IN" sz="2200" spc="-1" strike="noStrike">
              <a:latin typeface="Arial"/>
            </a:endParaRPr>
          </a:p>
        </p:txBody>
      </p:sp>
      <p:sp>
        <p:nvSpPr>
          <p:cNvPr id="78" name="TextBox 4"/>
          <p:cNvSpPr/>
          <p:nvPr/>
        </p:nvSpPr>
        <p:spPr>
          <a:xfrm>
            <a:off x="320040" y="1143000"/>
            <a:ext cx="8503200" cy="30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400" spc="-1" strike="noStrike">
                <a:solidFill>
                  <a:srgbClr val="3882f8"/>
                </a:solidFill>
                <a:latin typeface="Calibri"/>
                <a:ea typeface="DejaVu Sans"/>
              </a:rPr>
              <a:t>▸  </a:t>
            </a:r>
            <a:r>
              <a:rPr b="1" lang="en-US" sz="1400" spc="-1" strike="noStrike">
                <a:solidFill>
                  <a:srgbClr val="3882f8"/>
                </a:solidFill>
                <a:latin typeface="Calibri"/>
                <a:ea typeface="DejaVu Sans"/>
              </a:rPr>
              <a:t>Transaction Categorisation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79" name="TextBox 5"/>
          <p:cNvSpPr/>
          <p:nvPr/>
        </p:nvSpPr>
        <p:spPr>
          <a:xfrm>
            <a:off x="320040" y="1481400"/>
            <a:ext cx="850320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1e293b"/>
                </a:solidFill>
                <a:latin typeface="Calibri"/>
                <a:ea typeface="DejaVu Sans"/>
              </a:rPr>
              <a:t>      •  </a:t>
            </a:r>
            <a:r>
              <a:rPr b="0" lang="en-US" sz="1200" spc="-1" strike="noStrike">
                <a:solidFill>
                  <a:srgbClr val="1e293b"/>
                </a:solidFill>
                <a:latin typeface="Calibri"/>
                <a:ea typeface="DejaVu Sans"/>
              </a:rPr>
              <a:t>Rule-based systems plateau at ~70% accuracy (Chen et al., 2014)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80" name="TextBox 6"/>
          <p:cNvSpPr/>
          <p:nvPr/>
        </p:nvSpPr>
        <p:spPr>
          <a:xfrm>
            <a:off x="320040" y="1774080"/>
            <a:ext cx="850320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1e293b"/>
                </a:solidFill>
                <a:latin typeface="Calibri"/>
                <a:ea typeface="DejaVu Sans"/>
              </a:rPr>
              <a:t>      •  </a:t>
            </a:r>
            <a:r>
              <a:rPr b="0" lang="en-US" sz="1200" spc="-1" strike="noStrike">
                <a:solidFill>
                  <a:srgbClr val="1e293b"/>
                </a:solidFill>
                <a:latin typeface="Calibri"/>
                <a:ea typeface="DejaVu Sans"/>
              </a:rPr>
              <a:t>TF-IDF + Logistic Regression achieves 88–94% on similar datasets (Kumar, 2020)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81" name="TextBox 7"/>
          <p:cNvSpPr/>
          <p:nvPr/>
        </p:nvSpPr>
        <p:spPr>
          <a:xfrm>
            <a:off x="320040" y="2066400"/>
            <a:ext cx="850320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1e293b"/>
                </a:solidFill>
                <a:latin typeface="Calibri"/>
                <a:ea typeface="DejaVu Sans"/>
              </a:rPr>
              <a:t>      •  </a:t>
            </a:r>
            <a:r>
              <a:rPr b="0" lang="en-US" sz="1200" spc="-1" strike="noStrike">
                <a:solidFill>
                  <a:srgbClr val="1e293b"/>
                </a:solidFill>
                <a:latin typeface="Calibri"/>
                <a:ea typeface="DejaVu Sans"/>
              </a:rPr>
              <a:t>SmartSpend adopts TF-IDF + LinearSVC — fast, interpretable, no GPU needed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82" name="TextBox 8"/>
          <p:cNvSpPr/>
          <p:nvPr/>
        </p:nvSpPr>
        <p:spPr>
          <a:xfrm>
            <a:off x="320040" y="2359080"/>
            <a:ext cx="8503200" cy="30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400" spc="-1" strike="noStrike">
                <a:solidFill>
                  <a:srgbClr val="3882f8"/>
                </a:solidFill>
                <a:latin typeface="Calibri"/>
                <a:ea typeface="DejaVu Sans"/>
              </a:rPr>
              <a:t>▸  </a:t>
            </a:r>
            <a:r>
              <a:rPr b="1" lang="en-US" sz="1400" spc="-1" strike="noStrike">
                <a:solidFill>
                  <a:srgbClr val="3882f8"/>
                </a:solidFill>
                <a:latin typeface="Calibri"/>
                <a:ea typeface="DejaVu Sans"/>
              </a:rPr>
              <a:t>Spend Forecasting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83" name="TextBox 9"/>
          <p:cNvSpPr/>
          <p:nvPr/>
        </p:nvSpPr>
        <p:spPr>
          <a:xfrm>
            <a:off x="320040" y="2697480"/>
            <a:ext cx="850320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1e293b"/>
                </a:solidFill>
                <a:latin typeface="Calibri"/>
                <a:ea typeface="DejaVu Sans"/>
              </a:rPr>
              <a:t>      •  </a:t>
            </a:r>
            <a:r>
              <a:rPr b="0" lang="en-US" sz="1200" spc="-1" strike="noStrike">
                <a:solidFill>
                  <a:srgbClr val="1e293b"/>
                </a:solidFill>
                <a:latin typeface="Calibri"/>
                <a:ea typeface="DejaVu Sans"/>
              </a:rPr>
              <a:t>Facebook Prophet (Taylor &amp; Letham, 2018) — handles seasonality, missing data, minimal tuning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84" name="TextBox 10"/>
          <p:cNvSpPr/>
          <p:nvPr/>
        </p:nvSpPr>
        <p:spPr>
          <a:xfrm>
            <a:off x="320040" y="2990160"/>
            <a:ext cx="850320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1e293b"/>
                </a:solidFill>
                <a:latin typeface="Calibri"/>
                <a:ea typeface="DejaVu Sans"/>
              </a:rPr>
              <a:t>      •  </a:t>
            </a:r>
            <a:r>
              <a:rPr b="0" lang="en-US" sz="1200" spc="-1" strike="noStrike">
                <a:solidFill>
                  <a:srgbClr val="1e293b"/>
                </a:solidFill>
                <a:latin typeface="Calibri"/>
                <a:ea typeface="DejaVu Sans"/>
              </a:rPr>
              <a:t>Linear regression fallback when Prophet unavailable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85" name="TextBox 11"/>
          <p:cNvSpPr/>
          <p:nvPr/>
        </p:nvSpPr>
        <p:spPr>
          <a:xfrm>
            <a:off x="320040" y="3282840"/>
            <a:ext cx="8503200" cy="30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400" spc="-1" strike="noStrike">
                <a:solidFill>
                  <a:srgbClr val="3882f8"/>
                </a:solidFill>
                <a:latin typeface="Calibri"/>
                <a:ea typeface="DejaVu Sans"/>
              </a:rPr>
              <a:t>▸  </a:t>
            </a:r>
            <a:r>
              <a:rPr b="1" lang="en-US" sz="1400" spc="-1" strike="noStrike">
                <a:solidFill>
                  <a:srgbClr val="3882f8"/>
                </a:solidFill>
                <a:latin typeface="Calibri"/>
                <a:ea typeface="DejaVu Sans"/>
              </a:rPr>
              <a:t>Anomaly Detection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86" name="TextBox 12"/>
          <p:cNvSpPr/>
          <p:nvPr/>
        </p:nvSpPr>
        <p:spPr>
          <a:xfrm>
            <a:off x="320040" y="3620880"/>
            <a:ext cx="850320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1e293b"/>
                </a:solidFill>
                <a:latin typeface="Calibri"/>
                <a:ea typeface="DejaVu Sans"/>
              </a:rPr>
              <a:t>      •  </a:t>
            </a:r>
            <a:r>
              <a:rPr b="0" lang="en-US" sz="1200" spc="-1" strike="noStrike">
                <a:solidFill>
                  <a:srgbClr val="1e293b"/>
                </a:solidFill>
                <a:latin typeface="Calibri"/>
                <a:ea typeface="DejaVu Sans"/>
              </a:rPr>
              <a:t>Isolation Forest (Liu et al., 2008) — O(n log n), unsupervised, AUC &gt; 0.95 on fraud datasets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87" name="TextBox 13"/>
          <p:cNvSpPr/>
          <p:nvPr/>
        </p:nvSpPr>
        <p:spPr>
          <a:xfrm>
            <a:off x="320040" y="3913560"/>
            <a:ext cx="8503200" cy="30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400" spc="-1" strike="noStrike">
                <a:solidFill>
                  <a:srgbClr val="3882f8"/>
                </a:solidFill>
                <a:latin typeface="Calibri"/>
                <a:ea typeface="DejaVu Sans"/>
              </a:rPr>
              <a:t>▸  </a:t>
            </a:r>
            <a:r>
              <a:rPr b="1" lang="en-US" sz="1400" spc="-1" strike="noStrike">
                <a:solidFill>
                  <a:srgbClr val="3882f8"/>
                </a:solidFill>
                <a:latin typeface="Calibri"/>
                <a:ea typeface="DejaVu Sans"/>
              </a:rPr>
              <a:t>Security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88" name="TextBox 14"/>
          <p:cNvSpPr/>
          <p:nvPr/>
        </p:nvSpPr>
        <p:spPr>
          <a:xfrm>
            <a:off x="320040" y="4251960"/>
            <a:ext cx="850320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1e293b"/>
                </a:solidFill>
                <a:latin typeface="Calibri"/>
                <a:ea typeface="DejaVu Sans"/>
              </a:rPr>
              <a:t>      •  </a:t>
            </a:r>
            <a:r>
              <a:rPr b="0" lang="en-US" sz="1200" spc="-1" strike="noStrike">
                <a:solidFill>
                  <a:srgbClr val="1e293b"/>
                </a:solidFill>
                <a:latin typeface="Calibri"/>
                <a:ea typeface="DejaVu Sans"/>
              </a:rPr>
              <a:t>bcrypt (OWASP), JWT (RFC 7519), SQLAlchemy parameterised queries — prevent SQL injection</a:t>
            </a:r>
            <a:endParaRPr b="0" lang="en-IN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Rectangle 1"/>
          <p:cNvSpPr/>
          <p:nvPr/>
        </p:nvSpPr>
        <p:spPr>
          <a:xfrm>
            <a:off x="0" y="0"/>
            <a:ext cx="9143280" cy="1005120"/>
          </a:xfrm>
          <a:prstGeom prst="rect">
            <a:avLst/>
          </a:prstGeom>
          <a:solidFill>
            <a:srgbClr val="1e293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90" name="Rectangle 2"/>
          <p:cNvSpPr/>
          <p:nvPr/>
        </p:nvSpPr>
        <p:spPr>
          <a:xfrm>
            <a:off x="0" y="1005840"/>
            <a:ext cx="72360" cy="5851440"/>
          </a:xfrm>
          <a:prstGeom prst="rect">
            <a:avLst/>
          </a:prstGeom>
          <a:solidFill>
            <a:srgbClr val="3882f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91" name="TextBox 3"/>
          <p:cNvSpPr/>
          <p:nvPr/>
        </p:nvSpPr>
        <p:spPr>
          <a:xfrm>
            <a:off x="182880" y="91440"/>
            <a:ext cx="8777520" cy="75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2200" spc="-1" strike="noStrike">
                <a:solidFill>
                  <a:srgbClr val="ffffff"/>
                </a:solidFill>
                <a:latin typeface="Calibri"/>
                <a:ea typeface="DejaVu Sans"/>
              </a:rPr>
              <a:t>Chapter 3 — SDLC &amp; Software Requirements Specification</a:t>
            </a:r>
            <a:endParaRPr b="0" lang="en-IN" sz="2200" spc="-1" strike="noStrike">
              <a:latin typeface="Arial"/>
            </a:endParaRPr>
          </a:p>
        </p:txBody>
      </p:sp>
      <p:sp>
        <p:nvSpPr>
          <p:cNvPr id="92" name="TextBox 4"/>
          <p:cNvSpPr/>
          <p:nvPr/>
        </p:nvSpPr>
        <p:spPr>
          <a:xfrm>
            <a:off x="320040" y="1143000"/>
            <a:ext cx="8503200" cy="30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400" spc="-1" strike="noStrike">
                <a:solidFill>
                  <a:srgbClr val="3882f8"/>
                </a:solidFill>
                <a:latin typeface="Calibri"/>
                <a:ea typeface="DejaVu Sans"/>
              </a:rPr>
              <a:t>▸  </a:t>
            </a:r>
            <a:r>
              <a:rPr b="1" lang="en-US" sz="1400" spc="-1" strike="noStrike">
                <a:solidFill>
                  <a:srgbClr val="3882f8"/>
                </a:solidFill>
                <a:latin typeface="Calibri"/>
                <a:ea typeface="DejaVu Sans"/>
              </a:rPr>
              <a:t>SDLC Model: Agile / Iterative — 3 phases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93" name="TextBox 5"/>
          <p:cNvSpPr/>
          <p:nvPr/>
        </p:nvSpPr>
        <p:spPr>
          <a:xfrm>
            <a:off x="320040" y="1481400"/>
            <a:ext cx="850320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1e293b"/>
                </a:solidFill>
                <a:latin typeface="Calibri"/>
                <a:ea typeface="DejaVu Sans"/>
              </a:rPr>
              <a:t>      •  </a:t>
            </a:r>
            <a:r>
              <a:rPr b="0" lang="en-US" sz="1200" spc="-1" strike="noStrike">
                <a:solidFill>
                  <a:srgbClr val="1e293b"/>
                </a:solidFill>
                <a:latin typeface="Calibri"/>
                <a:ea typeface="DejaVu Sans"/>
              </a:rPr>
              <a:t>Phase 1 (Identification): Tools, hardware &amp; software requirements identified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94" name="TextBox 6"/>
          <p:cNvSpPr/>
          <p:nvPr/>
        </p:nvSpPr>
        <p:spPr>
          <a:xfrm>
            <a:off x="320040" y="1774080"/>
            <a:ext cx="850320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1e293b"/>
                </a:solidFill>
                <a:latin typeface="Calibri"/>
                <a:ea typeface="DejaVu Sans"/>
              </a:rPr>
              <a:t>      •  </a:t>
            </a:r>
            <a:r>
              <a:rPr b="0" lang="en-US" sz="1200" spc="-1" strike="noStrike">
                <a:solidFill>
                  <a:srgbClr val="1e293b"/>
                </a:solidFill>
                <a:latin typeface="Calibri"/>
                <a:ea typeface="DejaVu Sans"/>
              </a:rPr>
              <a:t>Phase 2 (Development): Design + implementation of all modules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95" name="TextBox 7"/>
          <p:cNvSpPr/>
          <p:nvPr/>
        </p:nvSpPr>
        <p:spPr>
          <a:xfrm>
            <a:off x="320040" y="2066400"/>
            <a:ext cx="850320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1e293b"/>
                </a:solidFill>
                <a:latin typeface="Calibri"/>
                <a:ea typeface="DejaVu Sans"/>
              </a:rPr>
              <a:t>      •  </a:t>
            </a:r>
            <a:r>
              <a:rPr b="0" lang="en-US" sz="1200" spc="-1" strike="noStrike">
                <a:solidFill>
                  <a:srgbClr val="1e293b"/>
                </a:solidFill>
                <a:latin typeface="Calibri"/>
                <a:ea typeface="DejaVu Sans"/>
              </a:rPr>
              <a:t>Phase 3 (Report): SRS, design artefacts, test cases, user guide documented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96" name="TextBox 8"/>
          <p:cNvSpPr/>
          <p:nvPr/>
        </p:nvSpPr>
        <p:spPr>
          <a:xfrm>
            <a:off x="320040" y="2359080"/>
            <a:ext cx="8503200" cy="30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400" spc="-1" strike="noStrike">
                <a:solidFill>
                  <a:srgbClr val="3882f8"/>
                </a:solidFill>
                <a:latin typeface="Calibri"/>
                <a:ea typeface="DejaVu Sans"/>
              </a:rPr>
              <a:t>▸  </a:t>
            </a:r>
            <a:r>
              <a:rPr b="1" lang="en-US" sz="1400" spc="-1" strike="noStrike">
                <a:solidFill>
                  <a:srgbClr val="3882f8"/>
                </a:solidFill>
                <a:latin typeface="Calibri"/>
                <a:ea typeface="DejaVu Sans"/>
              </a:rPr>
              <a:t>User Classes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97" name="TextBox 9"/>
          <p:cNvSpPr/>
          <p:nvPr/>
        </p:nvSpPr>
        <p:spPr>
          <a:xfrm>
            <a:off x="320040" y="2697480"/>
            <a:ext cx="850320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1e293b"/>
                </a:solidFill>
                <a:latin typeface="Calibri"/>
                <a:ea typeface="DejaVu Sans"/>
              </a:rPr>
              <a:t>      •  </a:t>
            </a:r>
            <a:r>
              <a:rPr b="0" lang="en-US" sz="1200" spc="-1" strike="noStrike">
                <a:solidFill>
                  <a:srgbClr val="1e293b"/>
                </a:solidFill>
                <a:latin typeface="Calibri"/>
                <a:ea typeface="DejaVu Sans"/>
              </a:rPr>
              <a:t>Regular User — logs transactions, views analytics, receives fraud alerts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98" name="TextBox 10"/>
          <p:cNvSpPr/>
          <p:nvPr/>
        </p:nvSpPr>
        <p:spPr>
          <a:xfrm>
            <a:off x="320040" y="2990160"/>
            <a:ext cx="850320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1e293b"/>
                </a:solidFill>
                <a:latin typeface="Calibri"/>
                <a:ea typeface="DejaVu Sans"/>
              </a:rPr>
              <a:t>      •  </a:t>
            </a:r>
            <a:r>
              <a:rPr b="0" lang="en-US" sz="1200" spc="-1" strike="noStrike">
                <a:solidFill>
                  <a:srgbClr val="1e293b"/>
                </a:solidFill>
                <a:latin typeface="Calibri"/>
                <a:ea typeface="DejaVu Sans"/>
              </a:rPr>
              <a:t>Admin — manages users, views audit logs, triggers model retrain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99" name="TextBox 11"/>
          <p:cNvSpPr/>
          <p:nvPr/>
        </p:nvSpPr>
        <p:spPr>
          <a:xfrm>
            <a:off x="320040" y="3282840"/>
            <a:ext cx="8503200" cy="30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400" spc="-1" strike="noStrike">
                <a:solidFill>
                  <a:srgbClr val="3882f8"/>
                </a:solidFill>
                <a:latin typeface="Calibri"/>
                <a:ea typeface="DejaVu Sans"/>
              </a:rPr>
              <a:t>▸  </a:t>
            </a:r>
            <a:r>
              <a:rPr b="1" lang="en-US" sz="1400" spc="-1" strike="noStrike">
                <a:solidFill>
                  <a:srgbClr val="3882f8"/>
                </a:solidFill>
                <a:latin typeface="Calibri"/>
                <a:ea typeface="DejaVu Sans"/>
              </a:rPr>
              <a:t>Key Functional Requirements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100" name="TextBox 12"/>
          <p:cNvSpPr/>
          <p:nvPr/>
        </p:nvSpPr>
        <p:spPr>
          <a:xfrm>
            <a:off x="320040" y="3620880"/>
            <a:ext cx="850320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1e293b"/>
                </a:solidFill>
                <a:latin typeface="Calibri"/>
                <a:ea typeface="DejaVu Sans"/>
              </a:rPr>
              <a:t>      •  </a:t>
            </a:r>
            <a:r>
              <a:rPr b="0" lang="en-US" sz="1200" spc="-1" strike="noStrike">
                <a:solidFill>
                  <a:srgbClr val="1e293b"/>
                </a:solidFill>
                <a:latin typeface="Calibri"/>
                <a:ea typeface="DejaVu Sans"/>
              </a:rPr>
              <a:t>FR-1/2: User registration &amp; JWT login with bcrypt passwords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01" name="TextBox 13"/>
          <p:cNvSpPr/>
          <p:nvPr/>
        </p:nvSpPr>
        <p:spPr>
          <a:xfrm>
            <a:off x="320040" y="3913560"/>
            <a:ext cx="850320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1e293b"/>
                </a:solidFill>
                <a:latin typeface="Calibri"/>
                <a:ea typeface="DejaVu Sans"/>
              </a:rPr>
              <a:t>      •  </a:t>
            </a:r>
            <a:r>
              <a:rPr b="0" lang="en-US" sz="1200" spc="-1" strike="noStrike">
                <a:solidFill>
                  <a:srgbClr val="1e293b"/>
                </a:solidFill>
                <a:latin typeface="Calibri"/>
                <a:ea typeface="DejaVu Sans"/>
              </a:rPr>
              <a:t>FR-3/4: Add transactions + CSV bulk import (≤ 5 MB)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02" name="TextBox 14"/>
          <p:cNvSpPr/>
          <p:nvPr/>
        </p:nvSpPr>
        <p:spPr>
          <a:xfrm>
            <a:off x="320040" y="4206240"/>
            <a:ext cx="850320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1e293b"/>
                </a:solidFill>
                <a:latin typeface="Calibri"/>
                <a:ea typeface="DejaVu Sans"/>
              </a:rPr>
              <a:t>      •  </a:t>
            </a:r>
            <a:r>
              <a:rPr b="0" lang="en-US" sz="1200" spc="-1" strike="noStrike">
                <a:solidFill>
                  <a:srgbClr val="1e293b"/>
                </a:solidFill>
                <a:latin typeface="Calibri"/>
                <a:ea typeface="DejaVu Sans"/>
              </a:rPr>
              <a:t>FR-6/7: 30-day forecast + Isolation Forest fraud detection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03" name="TextBox 15"/>
          <p:cNvSpPr/>
          <p:nvPr/>
        </p:nvSpPr>
        <p:spPr>
          <a:xfrm>
            <a:off x="320040" y="4498920"/>
            <a:ext cx="850320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1e293b"/>
                </a:solidFill>
                <a:latin typeface="Calibri"/>
                <a:ea typeface="DejaVu Sans"/>
              </a:rPr>
              <a:t>      •  </a:t>
            </a:r>
            <a:r>
              <a:rPr b="0" lang="en-US" sz="1200" spc="-1" strike="noStrike">
                <a:solidFill>
                  <a:srgbClr val="1e293b"/>
                </a:solidFill>
                <a:latin typeface="Calibri"/>
                <a:ea typeface="DejaVu Sans"/>
              </a:rPr>
              <a:t>FR-8/9: Dashboard analytics + admin panel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04" name="TextBox 16"/>
          <p:cNvSpPr/>
          <p:nvPr/>
        </p:nvSpPr>
        <p:spPr>
          <a:xfrm>
            <a:off x="320040" y="4791600"/>
            <a:ext cx="8503200" cy="30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400" spc="-1" strike="noStrike">
                <a:solidFill>
                  <a:srgbClr val="3882f8"/>
                </a:solidFill>
                <a:latin typeface="Calibri"/>
                <a:ea typeface="DejaVu Sans"/>
              </a:rPr>
              <a:t>▸  </a:t>
            </a:r>
            <a:r>
              <a:rPr b="1" lang="en-US" sz="1400" spc="-1" strike="noStrike">
                <a:solidFill>
                  <a:srgbClr val="3882f8"/>
                </a:solidFill>
                <a:latin typeface="Calibri"/>
                <a:ea typeface="DejaVu Sans"/>
              </a:rPr>
              <a:t>Non-Functional: API &lt; 500 ms · 99% uptime · WCAG AA · Docker-portable</a:t>
            </a:r>
            <a:endParaRPr b="0" lang="en-IN" sz="1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Rectangle 1"/>
          <p:cNvSpPr/>
          <p:nvPr/>
        </p:nvSpPr>
        <p:spPr>
          <a:xfrm>
            <a:off x="0" y="0"/>
            <a:ext cx="9143280" cy="1005120"/>
          </a:xfrm>
          <a:prstGeom prst="rect">
            <a:avLst/>
          </a:prstGeom>
          <a:solidFill>
            <a:srgbClr val="1e293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06" name="Rectangle 2"/>
          <p:cNvSpPr/>
          <p:nvPr/>
        </p:nvSpPr>
        <p:spPr>
          <a:xfrm>
            <a:off x="0" y="1005840"/>
            <a:ext cx="72360" cy="5851440"/>
          </a:xfrm>
          <a:prstGeom prst="rect">
            <a:avLst/>
          </a:prstGeom>
          <a:solidFill>
            <a:srgbClr val="3882f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07" name="TextBox 3"/>
          <p:cNvSpPr/>
          <p:nvPr/>
        </p:nvSpPr>
        <p:spPr>
          <a:xfrm>
            <a:off x="182880" y="91440"/>
            <a:ext cx="8777520" cy="42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2200" spc="-1" strike="noStrike">
                <a:solidFill>
                  <a:srgbClr val="ffffff"/>
                </a:solidFill>
                <a:latin typeface="Calibri"/>
                <a:ea typeface="DejaVu Sans"/>
              </a:rPr>
              <a:t>Chapter 4 — System Design</a:t>
            </a:r>
            <a:endParaRPr b="0" lang="en-IN" sz="2200" spc="-1" strike="noStrike">
              <a:latin typeface="Arial"/>
            </a:endParaRPr>
          </a:p>
        </p:txBody>
      </p:sp>
      <p:sp>
        <p:nvSpPr>
          <p:cNvPr id="108" name="TextBox 4"/>
          <p:cNvSpPr/>
          <p:nvPr/>
        </p:nvSpPr>
        <p:spPr>
          <a:xfrm>
            <a:off x="320040" y="1143000"/>
            <a:ext cx="8503200" cy="30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400" spc="-1" strike="noStrike">
                <a:solidFill>
                  <a:srgbClr val="3882f8"/>
                </a:solidFill>
                <a:latin typeface="Calibri"/>
                <a:ea typeface="DejaVu Sans"/>
              </a:rPr>
              <a:t>▸  </a:t>
            </a:r>
            <a:r>
              <a:rPr b="1" lang="en-US" sz="1400" spc="-1" strike="noStrike">
                <a:solidFill>
                  <a:srgbClr val="3882f8"/>
                </a:solidFill>
                <a:latin typeface="Calibri"/>
                <a:ea typeface="DejaVu Sans"/>
              </a:rPr>
              <a:t>3-Tier Architecture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109" name="TextBox 5"/>
          <p:cNvSpPr/>
          <p:nvPr/>
        </p:nvSpPr>
        <p:spPr>
          <a:xfrm>
            <a:off x="320040" y="1481400"/>
            <a:ext cx="850320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1e293b"/>
                </a:solidFill>
                <a:latin typeface="Calibri"/>
                <a:ea typeface="DejaVu Sans"/>
              </a:rPr>
              <a:t>      •  </a:t>
            </a:r>
            <a:r>
              <a:rPr b="0" lang="en-US" sz="1200" spc="-1" strike="noStrike">
                <a:solidFill>
                  <a:srgbClr val="1e293b"/>
                </a:solidFill>
                <a:latin typeface="Calibri"/>
                <a:ea typeface="DejaVu Sans"/>
              </a:rPr>
              <a:t>Presentation: React 18 + Vite + Chart.js + Axios (SPA)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10" name="TextBox 6"/>
          <p:cNvSpPr/>
          <p:nvPr/>
        </p:nvSpPr>
        <p:spPr>
          <a:xfrm>
            <a:off x="320040" y="1774080"/>
            <a:ext cx="850320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1e293b"/>
                </a:solidFill>
                <a:latin typeface="Calibri"/>
                <a:ea typeface="DejaVu Sans"/>
              </a:rPr>
              <a:t>      •  </a:t>
            </a:r>
            <a:r>
              <a:rPr b="0" lang="en-US" sz="1200" spc="-1" strike="noStrike">
                <a:solidFill>
                  <a:srgbClr val="1e293b"/>
                </a:solidFill>
                <a:latin typeface="Calibri"/>
                <a:ea typeface="DejaVu Sans"/>
              </a:rPr>
              <a:t>Application: Flask 3 + SQLAlchemy + JWT + ML Service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11" name="TextBox 7"/>
          <p:cNvSpPr/>
          <p:nvPr/>
        </p:nvSpPr>
        <p:spPr>
          <a:xfrm>
            <a:off x="320040" y="2066400"/>
            <a:ext cx="850320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1e293b"/>
                </a:solidFill>
                <a:latin typeface="Calibri"/>
                <a:ea typeface="DejaVu Sans"/>
              </a:rPr>
              <a:t>      •  </a:t>
            </a:r>
            <a:r>
              <a:rPr b="0" lang="en-US" sz="1200" spc="-1" strike="noStrike">
                <a:solidFill>
                  <a:srgbClr val="1e293b"/>
                </a:solidFill>
                <a:latin typeface="Calibri"/>
                <a:ea typeface="DejaVu Sans"/>
              </a:rPr>
              <a:t>Data: PostgreSQL 15 (3NF normalised, 5 tables)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12" name="TextBox 8"/>
          <p:cNvSpPr/>
          <p:nvPr/>
        </p:nvSpPr>
        <p:spPr>
          <a:xfrm>
            <a:off x="320040" y="2359080"/>
            <a:ext cx="8503200" cy="30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400" spc="-1" strike="noStrike">
                <a:solidFill>
                  <a:srgbClr val="3882f8"/>
                </a:solidFill>
                <a:latin typeface="Calibri"/>
                <a:ea typeface="DejaVu Sans"/>
              </a:rPr>
              <a:t>▸  </a:t>
            </a:r>
            <a:r>
              <a:rPr b="1" lang="en-US" sz="1400" spc="-1" strike="noStrike">
                <a:solidFill>
                  <a:srgbClr val="3882f8"/>
                </a:solidFill>
                <a:latin typeface="Calibri"/>
                <a:ea typeface="DejaVu Sans"/>
              </a:rPr>
              <a:t>ER Diagram (5 tables)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113" name="TextBox 9"/>
          <p:cNvSpPr/>
          <p:nvPr/>
        </p:nvSpPr>
        <p:spPr>
          <a:xfrm>
            <a:off x="320040" y="2697480"/>
            <a:ext cx="850320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1e293b"/>
                </a:solidFill>
                <a:latin typeface="Calibri"/>
                <a:ea typeface="DejaVu Sans"/>
              </a:rPr>
              <a:t>      •  </a:t>
            </a:r>
            <a:r>
              <a:rPr b="0" lang="en-US" sz="1200" spc="-1" strike="noStrike">
                <a:solidFill>
                  <a:srgbClr val="1e293b"/>
                </a:solidFill>
                <a:latin typeface="Calibri"/>
                <a:ea typeface="DejaVu Sans"/>
              </a:rPr>
              <a:t>USERS (1) ──→ (*) TRANSACTIONS (*) ──→ (1) CATEGORIES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14" name="TextBox 10"/>
          <p:cNvSpPr/>
          <p:nvPr/>
        </p:nvSpPr>
        <p:spPr>
          <a:xfrm>
            <a:off x="320040" y="2990160"/>
            <a:ext cx="850320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1e293b"/>
                </a:solidFill>
                <a:latin typeface="Calibri"/>
                <a:ea typeface="DejaVu Sans"/>
              </a:rPr>
              <a:t>      •  </a:t>
            </a:r>
            <a:r>
              <a:rPr b="0" lang="en-US" sz="1200" spc="-1" strike="noStrike">
                <a:solidFill>
                  <a:srgbClr val="1e293b"/>
                </a:solidFill>
                <a:latin typeface="Calibri"/>
                <a:ea typeface="DejaVu Sans"/>
              </a:rPr>
              <a:t>USERS (1) ──→ (*) BUDGETS  linked to CATEGORIES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15" name="TextBox 11"/>
          <p:cNvSpPr/>
          <p:nvPr/>
        </p:nvSpPr>
        <p:spPr>
          <a:xfrm>
            <a:off x="320040" y="3282840"/>
            <a:ext cx="850320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1e293b"/>
                </a:solidFill>
                <a:latin typeface="Calibri"/>
                <a:ea typeface="DejaVu Sans"/>
              </a:rPr>
              <a:t>      •  </a:t>
            </a:r>
            <a:r>
              <a:rPr b="0" lang="en-US" sz="1200" spc="-1" strike="noStrike">
                <a:solidFill>
                  <a:srgbClr val="1e293b"/>
                </a:solidFill>
                <a:latin typeface="Calibri"/>
                <a:ea typeface="DejaVu Sans"/>
              </a:rPr>
              <a:t>USERS (1) ──→ (*) AUDIT_LOGS (login events + IP)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16" name="TextBox 12"/>
          <p:cNvSpPr/>
          <p:nvPr/>
        </p:nvSpPr>
        <p:spPr>
          <a:xfrm>
            <a:off x="320040" y="3575160"/>
            <a:ext cx="8503200" cy="30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400" spc="-1" strike="noStrike">
                <a:solidFill>
                  <a:srgbClr val="3882f8"/>
                </a:solidFill>
                <a:latin typeface="Calibri"/>
                <a:ea typeface="DejaVu Sans"/>
              </a:rPr>
              <a:t>▸  </a:t>
            </a:r>
            <a:r>
              <a:rPr b="1" lang="en-US" sz="1400" spc="-1" strike="noStrike">
                <a:solidFill>
                  <a:srgbClr val="3882f8"/>
                </a:solidFill>
                <a:latin typeface="Calibri"/>
                <a:ea typeface="DejaVu Sans"/>
              </a:rPr>
              <a:t>Key Design Decisions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117" name="TextBox 13"/>
          <p:cNvSpPr/>
          <p:nvPr/>
        </p:nvSpPr>
        <p:spPr>
          <a:xfrm>
            <a:off x="320040" y="3913560"/>
            <a:ext cx="850320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1e293b"/>
                </a:solidFill>
                <a:latin typeface="Calibri"/>
                <a:ea typeface="DejaVu Sans"/>
              </a:rPr>
              <a:t>      •  </a:t>
            </a:r>
            <a:r>
              <a:rPr b="0" lang="en-US" sz="1200" spc="-1" strike="noStrike">
                <a:solidFill>
                  <a:srgbClr val="1e293b"/>
                </a:solidFill>
                <a:latin typeface="Calibri"/>
                <a:ea typeface="DejaVu Sans"/>
              </a:rPr>
              <a:t>Fernet AES-128 field-level encryption on transaction descriptions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18" name="TextBox 14"/>
          <p:cNvSpPr/>
          <p:nvPr/>
        </p:nvSpPr>
        <p:spPr>
          <a:xfrm>
            <a:off x="320040" y="4206240"/>
            <a:ext cx="850320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1e293b"/>
                </a:solidFill>
                <a:latin typeface="Calibri"/>
                <a:ea typeface="DejaVu Sans"/>
              </a:rPr>
              <a:t>      •  </a:t>
            </a:r>
            <a:r>
              <a:rPr b="0" lang="en-US" sz="1200" spc="-1" strike="noStrike">
                <a:solidFill>
                  <a:srgbClr val="1e293b"/>
                </a:solidFill>
                <a:latin typeface="Calibri"/>
                <a:ea typeface="DejaVu Sans"/>
              </a:rPr>
              <a:t>Role-based access: @admin_required decorator on all /api/admin/* routes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19" name="TextBox 15"/>
          <p:cNvSpPr/>
          <p:nvPr/>
        </p:nvSpPr>
        <p:spPr>
          <a:xfrm>
            <a:off x="320040" y="4498920"/>
            <a:ext cx="850320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1e293b"/>
                </a:solidFill>
                <a:latin typeface="Calibri"/>
                <a:ea typeface="DejaVu Sans"/>
              </a:rPr>
              <a:t>      •  </a:t>
            </a:r>
            <a:r>
              <a:rPr b="0" lang="en-US" sz="1200" spc="-1" strike="noStrike">
                <a:solidFill>
                  <a:srgbClr val="1e293b"/>
                </a:solidFill>
                <a:latin typeface="Calibri"/>
                <a:ea typeface="DejaVu Sans"/>
              </a:rPr>
              <a:t>Sequence: User → React → POST /transactions → ML classify → DB insert → 201 response</a:t>
            </a:r>
            <a:endParaRPr b="0" lang="en-IN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Rectangle 1"/>
          <p:cNvSpPr/>
          <p:nvPr/>
        </p:nvSpPr>
        <p:spPr>
          <a:xfrm>
            <a:off x="0" y="0"/>
            <a:ext cx="9143280" cy="1005120"/>
          </a:xfrm>
          <a:prstGeom prst="rect">
            <a:avLst/>
          </a:prstGeom>
          <a:solidFill>
            <a:srgbClr val="1e293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21" name="Rectangle 2"/>
          <p:cNvSpPr/>
          <p:nvPr/>
        </p:nvSpPr>
        <p:spPr>
          <a:xfrm>
            <a:off x="0" y="1005840"/>
            <a:ext cx="72360" cy="5851440"/>
          </a:xfrm>
          <a:prstGeom prst="rect">
            <a:avLst/>
          </a:prstGeom>
          <a:solidFill>
            <a:srgbClr val="3882f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22" name="TextBox 3"/>
          <p:cNvSpPr/>
          <p:nvPr/>
        </p:nvSpPr>
        <p:spPr>
          <a:xfrm>
            <a:off x="182880" y="91440"/>
            <a:ext cx="8777520" cy="42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2200" spc="-1" strike="noStrike">
                <a:solidFill>
                  <a:srgbClr val="ffffff"/>
                </a:solidFill>
                <a:latin typeface="Calibri"/>
                <a:ea typeface="DejaVu Sans"/>
              </a:rPr>
              <a:t>Chapter 5 — Coding &amp; Implementation</a:t>
            </a:r>
            <a:endParaRPr b="0" lang="en-IN" sz="2200" spc="-1" strike="noStrike">
              <a:latin typeface="Arial"/>
            </a:endParaRPr>
          </a:p>
        </p:txBody>
      </p:sp>
      <p:sp>
        <p:nvSpPr>
          <p:cNvPr id="123" name="TextBox 4"/>
          <p:cNvSpPr/>
          <p:nvPr/>
        </p:nvSpPr>
        <p:spPr>
          <a:xfrm>
            <a:off x="320040" y="1143000"/>
            <a:ext cx="8503200" cy="30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400" spc="-1" strike="noStrike">
                <a:solidFill>
                  <a:srgbClr val="3882f8"/>
                </a:solidFill>
                <a:latin typeface="Calibri"/>
                <a:ea typeface="DejaVu Sans"/>
              </a:rPr>
              <a:t>▸  </a:t>
            </a:r>
            <a:r>
              <a:rPr b="1" lang="en-US" sz="1400" spc="-1" strike="noStrike">
                <a:solidFill>
                  <a:srgbClr val="3882f8"/>
                </a:solidFill>
                <a:latin typeface="Calibri"/>
                <a:ea typeface="DejaVu Sans"/>
              </a:rPr>
              <a:t>Tech Stack: Python 3.11 · Flask 3 · React 18 · PostgreSQL 15 · Docker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124" name="TextBox 5"/>
          <p:cNvSpPr/>
          <p:nvPr/>
        </p:nvSpPr>
        <p:spPr>
          <a:xfrm>
            <a:off x="320040" y="1481400"/>
            <a:ext cx="8503200" cy="30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400" spc="-1" strike="noStrike">
                <a:solidFill>
                  <a:srgbClr val="3882f8"/>
                </a:solidFill>
                <a:latin typeface="Calibri"/>
                <a:ea typeface="DejaVu Sans"/>
              </a:rPr>
              <a:t>▸  </a:t>
            </a:r>
            <a:r>
              <a:rPr b="1" lang="en-US" sz="1400" spc="-1" strike="noStrike">
                <a:solidFill>
                  <a:srgbClr val="3882f8"/>
                </a:solidFill>
                <a:latin typeface="Calibri"/>
                <a:ea typeface="DejaVu Sans"/>
              </a:rPr>
              <a:t>Backend Modules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125" name="TextBox 6"/>
          <p:cNvSpPr/>
          <p:nvPr/>
        </p:nvSpPr>
        <p:spPr>
          <a:xfrm>
            <a:off x="320040" y="1819800"/>
            <a:ext cx="850320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1e293b"/>
                </a:solidFill>
                <a:latin typeface="Calibri"/>
                <a:ea typeface="DejaVu Sans"/>
              </a:rPr>
              <a:t>      •  </a:t>
            </a:r>
            <a:r>
              <a:rPr b="0" lang="en-US" sz="1200" spc="-1" strike="noStrike">
                <a:solidFill>
                  <a:srgbClr val="1e293b"/>
                </a:solidFill>
                <a:latin typeface="Calibri"/>
                <a:ea typeface="DejaVu Sans"/>
              </a:rPr>
              <a:t>app.py — Flask factory, CORS, rate-limiter (100 req/min), security headers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26" name="TextBox 7"/>
          <p:cNvSpPr/>
          <p:nvPr/>
        </p:nvSpPr>
        <p:spPr>
          <a:xfrm>
            <a:off x="320040" y="2112120"/>
            <a:ext cx="850320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1e293b"/>
                </a:solidFill>
                <a:latin typeface="Calibri"/>
                <a:ea typeface="DejaVu Sans"/>
              </a:rPr>
              <a:t>      •  </a:t>
            </a:r>
            <a:r>
              <a:rPr b="0" lang="en-US" sz="1200" spc="-1" strike="noStrike">
                <a:solidFill>
                  <a:srgbClr val="1e293b"/>
                </a:solidFill>
                <a:latin typeface="Calibri"/>
                <a:ea typeface="DejaVu Sans"/>
              </a:rPr>
              <a:t>auth.py — register/login, bcrypt (cost 12), JWT issue &amp; verify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27" name="TextBox 8"/>
          <p:cNvSpPr/>
          <p:nvPr/>
        </p:nvSpPr>
        <p:spPr>
          <a:xfrm>
            <a:off x="320040" y="2404800"/>
            <a:ext cx="850320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1e293b"/>
                </a:solidFill>
                <a:latin typeface="Calibri"/>
                <a:ea typeface="DejaVu Sans"/>
              </a:rPr>
              <a:t>      •  </a:t>
            </a:r>
            <a:r>
              <a:rPr b="0" lang="en-US" sz="1200" spc="-1" strike="noStrike">
                <a:solidFill>
                  <a:srgbClr val="1e293b"/>
                </a:solidFill>
                <a:latin typeface="Calibri"/>
                <a:ea typeface="DejaVu Sans"/>
              </a:rPr>
              <a:t>transactions.py — CRUD + CSV import + ML auto-categorise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28" name="TextBox 9"/>
          <p:cNvSpPr/>
          <p:nvPr/>
        </p:nvSpPr>
        <p:spPr>
          <a:xfrm>
            <a:off x="320040" y="2697480"/>
            <a:ext cx="850320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1e293b"/>
                </a:solidFill>
                <a:latin typeface="Calibri"/>
                <a:ea typeface="DejaVu Sans"/>
              </a:rPr>
              <a:t>      •  </a:t>
            </a:r>
            <a:r>
              <a:rPr b="0" lang="en-US" sz="1200" spc="-1" strike="noStrike">
                <a:solidFill>
                  <a:srgbClr val="1e293b"/>
                </a:solidFill>
                <a:latin typeface="Calibri"/>
                <a:ea typeface="DejaVu Sans"/>
              </a:rPr>
              <a:t>analytics.py — dashboard aggregations, forecast, anomaly endpoints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29" name="TextBox 10"/>
          <p:cNvSpPr/>
          <p:nvPr/>
        </p:nvSpPr>
        <p:spPr>
          <a:xfrm>
            <a:off x="320040" y="2990160"/>
            <a:ext cx="8503200" cy="30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400" spc="-1" strike="noStrike">
                <a:solidFill>
                  <a:srgbClr val="3882f8"/>
                </a:solidFill>
                <a:latin typeface="Calibri"/>
                <a:ea typeface="DejaVu Sans"/>
              </a:rPr>
              <a:t>▸  </a:t>
            </a:r>
            <a:r>
              <a:rPr b="1" lang="en-US" sz="1400" spc="-1" strike="noStrike">
                <a:solidFill>
                  <a:srgbClr val="3882f8"/>
                </a:solidFill>
                <a:latin typeface="Calibri"/>
                <a:ea typeface="DejaVu Sans"/>
              </a:rPr>
              <a:t>ML Pipeline (ml/train_models.py)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130" name="TextBox 11"/>
          <p:cNvSpPr/>
          <p:nvPr/>
        </p:nvSpPr>
        <p:spPr>
          <a:xfrm>
            <a:off x="320040" y="3328560"/>
            <a:ext cx="850320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1e293b"/>
                </a:solidFill>
                <a:latin typeface="Calibri"/>
                <a:ea typeface="DejaVu Sans"/>
              </a:rPr>
              <a:t>      •  </a:t>
            </a:r>
            <a:r>
              <a:rPr b="0" lang="en-US" sz="1200" spc="-1" strike="noStrike">
                <a:solidFill>
                  <a:srgbClr val="1e293b"/>
                </a:solidFill>
                <a:latin typeface="Calibri"/>
                <a:ea typeface="DejaVu Sans"/>
              </a:rPr>
              <a:t>Model 1 — TF-IDF (word + char n-grams) + CalibratedLinearSVC → 99.4% accuracy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31" name="TextBox 12"/>
          <p:cNvSpPr/>
          <p:nvPr/>
        </p:nvSpPr>
        <p:spPr>
          <a:xfrm>
            <a:off x="320040" y="3620880"/>
            <a:ext cx="850320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1e293b"/>
                </a:solidFill>
                <a:latin typeface="Calibri"/>
                <a:ea typeface="DejaVu Sans"/>
              </a:rPr>
              <a:t>      •  </a:t>
            </a:r>
            <a:r>
              <a:rPr b="0" lang="en-US" sz="1200" spc="-1" strike="noStrike">
                <a:solidFill>
                  <a:srgbClr val="1e293b"/>
                </a:solidFill>
                <a:latin typeface="Calibri"/>
                <a:ea typeface="DejaVu Sans"/>
              </a:rPr>
              <a:t>Model 2 — Isolation Forest (contamination=0.02, 150 estimators)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32" name="TextBox 13"/>
          <p:cNvSpPr/>
          <p:nvPr/>
        </p:nvSpPr>
        <p:spPr>
          <a:xfrm>
            <a:off x="320040" y="3913560"/>
            <a:ext cx="850320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1e293b"/>
                </a:solidFill>
                <a:latin typeface="Calibri"/>
                <a:ea typeface="DejaVu Sans"/>
              </a:rPr>
              <a:t>      •  </a:t>
            </a:r>
            <a:r>
              <a:rPr b="0" lang="en-US" sz="1200" spc="-1" strike="noStrike">
                <a:solidFill>
                  <a:srgbClr val="1e293b"/>
                </a:solidFill>
                <a:latin typeface="Calibri"/>
                <a:ea typeface="DejaVu Sans"/>
              </a:rPr>
              <a:t>Model 3 — Prophet per-user at request time (linear fallback if unavailable)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33" name="TextBox 14"/>
          <p:cNvSpPr/>
          <p:nvPr/>
        </p:nvSpPr>
        <p:spPr>
          <a:xfrm>
            <a:off x="320040" y="4206240"/>
            <a:ext cx="8503200" cy="51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400" spc="-1" strike="noStrike">
                <a:solidFill>
                  <a:srgbClr val="3882f8"/>
                </a:solidFill>
                <a:latin typeface="Calibri"/>
                <a:ea typeface="DejaVu Sans"/>
              </a:rPr>
              <a:t>▸  </a:t>
            </a:r>
            <a:r>
              <a:rPr b="1" lang="en-US" sz="1400" spc="-1" strike="noStrike">
                <a:solidFill>
                  <a:srgbClr val="3882f8"/>
                </a:solidFill>
                <a:latin typeface="Calibri"/>
                <a:ea typeface="DejaVu Sans"/>
              </a:rPr>
              <a:t>Frontend: React Router, Axios interceptors (auto-attach JWT, auto-logout on 401), Chart.js</a:t>
            </a:r>
            <a:endParaRPr b="0" lang="en-IN" sz="1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Rectangle 1"/>
          <p:cNvSpPr/>
          <p:nvPr/>
        </p:nvSpPr>
        <p:spPr>
          <a:xfrm>
            <a:off x="0" y="0"/>
            <a:ext cx="9143280" cy="1005120"/>
          </a:xfrm>
          <a:prstGeom prst="rect">
            <a:avLst/>
          </a:prstGeom>
          <a:solidFill>
            <a:srgbClr val="1e293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35" name="Rectangle 2"/>
          <p:cNvSpPr/>
          <p:nvPr/>
        </p:nvSpPr>
        <p:spPr>
          <a:xfrm>
            <a:off x="0" y="1005840"/>
            <a:ext cx="72360" cy="5851440"/>
          </a:xfrm>
          <a:prstGeom prst="rect">
            <a:avLst/>
          </a:prstGeom>
          <a:solidFill>
            <a:srgbClr val="3882f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36" name="TextBox 3"/>
          <p:cNvSpPr/>
          <p:nvPr/>
        </p:nvSpPr>
        <p:spPr>
          <a:xfrm>
            <a:off x="182880" y="91440"/>
            <a:ext cx="8777520" cy="42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2200" spc="-1" strike="noStrike">
                <a:solidFill>
                  <a:srgbClr val="ffffff"/>
                </a:solidFill>
                <a:latin typeface="Calibri"/>
                <a:ea typeface="DejaVu Sans"/>
              </a:rPr>
              <a:t>Chapter 6 — Testing</a:t>
            </a:r>
            <a:endParaRPr b="0" lang="en-IN" sz="2200" spc="-1" strike="noStrike">
              <a:latin typeface="Arial"/>
            </a:endParaRPr>
          </a:p>
        </p:txBody>
      </p:sp>
      <p:sp>
        <p:nvSpPr>
          <p:cNvPr id="137" name="TextBox 4"/>
          <p:cNvSpPr/>
          <p:nvPr/>
        </p:nvSpPr>
        <p:spPr>
          <a:xfrm>
            <a:off x="320040" y="1143000"/>
            <a:ext cx="8503200" cy="30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400" spc="-1" strike="noStrike">
                <a:solidFill>
                  <a:srgbClr val="3882f8"/>
                </a:solidFill>
                <a:latin typeface="Calibri"/>
                <a:ea typeface="DejaVu Sans"/>
              </a:rPr>
              <a:t>▸  </a:t>
            </a:r>
            <a:r>
              <a:rPr b="1" lang="en-US" sz="1400" spc="-1" strike="noStrike">
                <a:solidFill>
                  <a:srgbClr val="3882f8"/>
                </a:solidFill>
                <a:latin typeface="Calibri"/>
                <a:ea typeface="DejaVu Sans"/>
              </a:rPr>
              <a:t>Testing Strategy: V-Model — Unit → Integration → System → Security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138" name="TextBox 5"/>
          <p:cNvSpPr/>
          <p:nvPr/>
        </p:nvSpPr>
        <p:spPr>
          <a:xfrm>
            <a:off x="320040" y="1481400"/>
            <a:ext cx="8503200" cy="30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400" spc="-1" strike="noStrike">
                <a:solidFill>
                  <a:srgbClr val="3882f8"/>
                </a:solidFill>
                <a:latin typeface="Calibri"/>
                <a:ea typeface="DejaVu Sans"/>
              </a:rPr>
              <a:t>▸  </a:t>
            </a:r>
            <a:r>
              <a:rPr b="1" lang="en-US" sz="1400" spc="-1" strike="noStrike">
                <a:solidFill>
                  <a:srgbClr val="3882f8"/>
                </a:solidFill>
                <a:latin typeface="Calibri"/>
                <a:ea typeface="DejaVu Sans"/>
              </a:rPr>
              <a:t>Unit Tests (pytest) — 20 test cases, all passing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139" name="TextBox 6"/>
          <p:cNvSpPr/>
          <p:nvPr/>
        </p:nvSpPr>
        <p:spPr>
          <a:xfrm>
            <a:off x="320040" y="1819800"/>
            <a:ext cx="850320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1e293b"/>
                </a:solidFill>
                <a:latin typeface="Calibri"/>
                <a:ea typeface="DejaVu Sans"/>
              </a:rPr>
              <a:t>      •  </a:t>
            </a:r>
            <a:r>
              <a:rPr b="0" lang="en-US" sz="1200" spc="-1" strike="noStrike">
                <a:solidFill>
                  <a:srgbClr val="1e293b"/>
                </a:solidFill>
                <a:latin typeface="Calibri"/>
                <a:ea typeface="DejaVu Sans"/>
              </a:rPr>
              <a:t>Auth: register, weak password, duplicate email, login, wrong password (6 cases)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40" name="TextBox 7"/>
          <p:cNvSpPr/>
          <p:nvPr/>
        </p:nvSpPr>
        <p:spPr>
          <a:xfrm>
            <a:off x="320040" y="2112120"/>
            <a:ext cx="850320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1e293b"/>
                </a:solidFill>
                <a:latin typeface="Calibri"/>
                <a:ea typeface="DejaVu Sans"/>
              </a:rPr>
              <a:t>      •  </a:t>
            </a:r>
            <a:r>
              <a:rPr b="0" lang="en-US" sz="1200" spc="-1" strike="noStrike">
                <a:solidFill>
                  <a:srgbClr val="1e293b"/>
                </a:solidFill>
                <a:latin typeface="Calibri"/>
                <a:ea typeface="DejaVu Sans"/>
              </a:rPr>
              <a:t>ML: food/transport/unknown categorisation, anomaly high/low amount (7 cases)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41" name="TextBox 8"/>
          <p:cNvSpPr/>
          <p:nvPr/>
        </p:nvSpPr>
        <p:spPr>
          <a:xfrm>
            <a:off x="320040" y="2404800"/>
            <a:ext cx="850320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1e293b"/>
                </a:solidFill>
                <a:latin typeface="Calibri"/>
                <a:ea typeface="DejaVu Sans"/>
              </a:rPr>
              <a:t>      •  </a:t>
            </a:r>
            <a:r>
              <a:rPr b="0" lang="en-US" sz="1200" spc="-1" strike="noStrike">
                <a:solidFill>
                  <a:srgbClr val="1e293b"/>
                </a:solidFill>
                <a:latin typeface="Calibri"/>
                <a:ea typeface="DejaVu Sans"/>
              </a:rPr>
              <a:t>Transactions: create, list, invalid type, unauthenticated access (4 cases)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42" name="TextBox 9"/>
          <p:cNvSpPr/>
          <p:nvPr/>
        </p:nvSpPr>
        <p:spPr>
          <a:xfrm>
            <a:off x="320040" y="2697480"/>
            <a:ext cx="8503200" cy="30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400" spc="-1" strike="noStrike">
                <a:solidFill>
                  <a:srgbClr val="3882f8"/>
                </a:solidFill>
                <a:latin typeface="Calibri"/>
                <a:ea typeface="DejaVu Sans"/>
              </a:rPr>
              <a:t>▸  </a:t>
            </a:r>
            <a:r>
              <a:rPr b="1" lang="en-US" sz="1400" spc="-1" strike="noStrike">
                <a:solidFill>
                  <a:srgbClr val="3882f8"/>
                </a:solidFill>
                <a:latin typeface="Calibri"/>
                <a:ea typeface="DejaVu Sans"/>
              </a:rPr>
              <a:t>System Tests (Manual)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143" name="TextBox 10"/>
          <p:cNvSpPr/>
          <p:nvPr/>
        </p:nvSpPr>
        <p:spPr>
          <a:xfrm>
            <a:off x="320040" y="3035880"/>
            <a:ext cx="850320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1e293b"/>
                </a:solidFill>
                <a:latin typeface="Calibri"/>
                <a:ea typeface="DejaVu Sans"/>
              </a:rPr>
              <a:t>      •  </a:t>
            </a:r>
            <a:r>
              <a:rPr b="0" lang="en-US" sz="1200" spc="-1" strike="noStrike">
                <a:solidFill>
                  <a:srgbClr val="1e293b"/>
                </a:solidFill>
                <a:latin typeface="Calibri"/>
                <a:ea typeface="DejaVu Sans"/>
              </a:rPr>
              <a:t>Full journey: Register → Login → Add 10 txns → Dashboard → Forecast → Spot anomaly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44" name="TextBox 11"/>
          <p:cNvSpPr/>
          <p:nvPr/>
        </p:nvSpPr>
        <p:spPr>
          <a:xfrm>
            <a:off x="320040" y="3328560"/>
            <a:ext cx="850320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1e293b"/>
                </a:solidFill>
                <a:latin typeface="Calibri"/>
                <a:ea typeface="DejaVu Sans"/>
              </a:rPr>
              <a:t>      •  </a:t>
            </a:r>
            <a:r>
              <a:rPr b="0" lang="en-US" sz="1200" spc="-1" strike="noStrike">
                <a:solidFill>
                  <a:srgbClr val="1e293b"/>
                </a:solidFill>
                <a:latin typeface="Calibri"/>
                <a:ea typeface="DejaVu Sans"/>
              </a:rPr>
              <a:t>CSV import: 15-row file, anomaly flag on ₹65,000 row verified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45" name="TextBox 12"/>
          <p:cNvSpPr/>
          <p:nvPr/>
        </p:nvSpPr>
        <p:spPr>
          <a:xfrm>
            <a:off x="320040" y="3620880"/>
            <a:ext cx="850320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1e293b"/>
                </a:solidFill>
                <a:latin typeface="Calibri"/>
                <a:ea typeface="DejaVu Sans"/>
              </a:rPr>
              <a:t>      •  </a:t>
            </a:r>
            <a:r>
              <a:rPr b="0" lang="en-US" sz="1200" spc="-1" strike="noStrike">
                <a:solidFill>
                  <a:srgbClr val="1e293b"/>
                </a:solidFill>
                <a:latin typeface="Calibri"/>
                <a:ea typeface="DejaVu Sans"/>
              </a:rPr>
              <a:t>Browser: Chrome, Firefox, Edge  ·  Responsive: 1920px / 768px / 375px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46" name="TextBox 13"/>
          <p:cNvSpPr/>
          <p:nvPr/>
        </p:nvSpPr>
        <p:spPr>
          <a:xfrm>
            <a:off x="320040" y="3913560"/>
            <a:ext cx="8503200" cy="51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400" spc="-1" strike="noStrike">
                <a:solidFill>
                  <a:srgbClr val="3882f8"/>
                </a:solidFill>
                <a:latin typeface="Calibri"/>
                <a:ea typeface="DejaVu Sans"/>
              </a:rPr>
              <a:t>▸  </a:t>
            </a:r>
            <a:r>
              <a:rPr b="1" lang="en-US" sz="1400" spc="-1" strike="noStrike">
                <a:solidFill>
                  <a:srgbClr val="3882f8"/>
                </a:solidFill>
                <a:latin typeface="Calibri"/>
                <a:ea typeface="DejaVu Sans"/>
              </a:rPr>
              <a:t>Performance: avg API response ~120 ms  ·  ML classify ~30 ms  ·  Dashboard load ~1.3 s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147" name="TextBox 14"/>
          <p:cNvSpPr/>
          <p:nvPr/>
        </p:nvSpPr>
        <p:spPr>
          <a:xfrm>
            <a:off x="320040" y="4478400"/>
            <a:ext cx="8503200" cy="51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400" spc="-1" strike="noStrike">
                <a:solidFill>
                  <a:srgbClr val="3882f8"/>
                </a:solidFill>
                <a:latin typeface="Calibri"/>
                <a:ea typeface="DejaVu Sans"/>
              </a:rPr>
              <a:t>▸  </a:t>
            </a:r>
            <a:r>
              <a:rPr b="1" lang="en-US" sz="1400" spc="-1" strike="noStrike">
                <a:solidFill>
                  <a:srgbClr val="3882f8"/>
                </a:solidFill>
                <a:latin typeface="Calibri"/>
                <a:ea typeface="DejaVu Sans"/>
              </a:rPr>
              <a:t>Security: SQL injection blocked · XSS prevented · CORS restricted · bcrypt + JWT verified</a:t>
            </a:r>
            <a:endParaRPr b="0" lang="en-IN" sz="1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Rectangle 1"/>
          <p:cNvSpPr/>
          <p:nvPr/>
        </p:nvSpPr>
        <p:spPr>
          <a:xfrm>
            <a:off x="0" y="0"/>
            <a:ext cx="9143280" cy="1005120"/>
          </a:xfrm>
          <a:prstGeom prst="rect">
            <a:avLst/>
          </a:prstGeom>
          <a:solidFill>
            <a:srgbClr val="1e293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49" name="Rectangle 2"/>
          <p:cNvSpPr/>
          <p:nvPr/>
        </p:nvSpPr>
        <p:spPr>
          <a:xfrm>
            <a:off x="0" y="1005840"/>
            <a:ext cx="72360" cy="5851440"/>
          </a:xfrm>
          <a:prstGeom prst="rect">
            <a:avLst/>
          </a:prstGeom>
          <a:solidFill>
            <a:srgbClr val="3882f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50" name="TextBox 3"/>
          <p:cNvSpPr/>
          <p:nvPr/>
        </p:nvSpPr>
        <p:spPr>
          <a:xfrm>
            <a:off x="182880" y="91440"/>
            <a:ext cx="8777520" cy="42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2200" spc="-1" strike="noStrike">
                <a:solidFill>
                  <a:srgbClr val="ffffff"/>
                </a:solidFill>
                <a:latin typeface="Calibri"/>
                <a:ea typeface="DejaVu Sans"/>
              </a:rPr>
              <a:t>Chapter 7 — Application &amp; Results</a:t>
            </a:r>
            <a:endParaRPr b="0" lang="en-IN" sz="2200" spc="-1" strike="noStrike">
              <a:latin typeface="Arial"/>
            </a:endParaRPr>
          </a:p>
        </p:txBody>
      </p:sp>
      <p:sp>
        <p:nvSpPr>
          <p:cNvPr id="151" name="TextBox 4"/>
          <p:cNvSpPr/>
          <p:nvPr/>
        </p:nvSpPr>
        <p:spPr>
          <a:xfrm>
            <a:off x="320040" y="1143000"/>
            <a:ext cx="8503200" cy="30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400" spc="-1" strike="noStrike">
                <a:solidFill>
                  <a:srgbClr val="3882f8"/>
                </a:solidFill>
                <a:latin typeface="Calibri"/>
                <a:ea typeface="DejaVu Sans"/>
              </a:rPr>
              <a:t>▸  </a:t>
            </a:r>
            <a:r>
              <a:rPr b="1" lang="en-US" sz="1400" spc="-1" strike="noStrike">
                <a:solidFill>
                  <a:srgbClr val="3882f8"/>
                </a:solidFill>
                <a:latin typeface="Calibri"/>
                <a:ea typeface="DejaVu Sans"/>
              </a:rPr>
              <a:t>Deployed Stack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152" name="TextBox 5"/>
          <p:cNvSpPr/>
          <p:nvPr/>
        </p:nvSpPr>
        <p:spPr>
          <a:xfrm>
            <a:off x="320040" y="1481400"/>
            <a:ext cx="850320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1e293b"/>
                </a:solidFill>
                <a:latin typeface="Calibri"/>
                <a:ea typeface="DejaVu Sans"/>
              </a:rPr>
              <a:t>      •  </a:t>
            </a:r>
            <a:r>
              <a:rPr b="0" lang="en-US" sz="1200" spc="-1" strike="noStrike">
                <a:solidFill>
                  <a:srgbClr val="1e293b"/>
                </a:solidFill>
                <a:latin typeface="Calibri"/>
                <a:ea typeface="DejaVu Sans"/>
              </a:rPr>
              <a:t>Frontend: React SPA on Vercel (free tier)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53" name="TextBox 6"/>
          <p:cNvSpPr/>
          <p:nvPr/>
        </p:nvSpPr>
        <p:spPr>
          <a:xfrm>
            <a:off x="320040" y="1774080"/>
            <a:ext cx="850320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1e293b"/>
                </a:solidFill>
                <a:latin typeface="Calibri"/>
                <a:ea typeface="DejaVu Sans"/>
              </a:rPr>
              <a:t>      •  </a:t>
            </a:r>
            <a:r>
              <a:rPr b="0" lang="en-US" sz="1200" spc="-1" strike="noStrike">
                <a:solidFill>
                  <a:srgbClr val="1e293b"/>
                </a:solidFill>
                <a:latin typeface="Calibri"/>
                <a:ea typeface="DejaVu Sans"/>
              </a:rPr>
              <a:t>Backend: Flask API on Render (free tier, Gunicorn 2 workers)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54" name="TextBox 7"/>
          <p:cNvSpPr/>
          <p:nvPr/>
        </p:nvSpPr>
        <p:spPr>
          <a:xfrm>
            <a:off x="320040" y="2066400"/>
            <a:ext cx="850320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1e293b"/>
                </a:solidFill>
                <a:latin typeface="Calibri"/>
                <a:ea typeface="DejaVu Sans"/>
              </a:rPr>
              <a:t>      •  </a:t>
            </a:r>
            <a:r>
              <a:rPr b="0" lang="en-US" sz="1200" spc="-1" strike="noStrike">
                <a:solidFill>
                  <a:srgbClr val="1e293b"/>
                </a:solidFill>
                <a:latin typeface="Calibri"/>
                <a:ea typeface="DejaVu Sans"/>
              </a:rPr>
              <a:t>Database: PostgreSQL on Supabase (500 MB free tier)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55" name="TextBox 8"/>
          <p:cNvSpPr/>
          <p:nvPr/>
        </p:nvSpPr>
        <p:spPr>
          <a:xfrm>
            <a:off x="320040" y="2359080"/>
            <a:ext cx="8503200" cy="30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400" spc="-1" strike="noStrike">
                <a:solidFill>
                  <a:srgbClr val="3882f8"/>
                </a:solidFill>
                <a:latin typeface="Calibri"/>
                <a:ea typeface="DejaVu Sans"/>
              </a:rPr>
              <a:t>▸  </a:t>
            </a:r>
            <a:r>
              <a:rPr b="1" lang="en-US" sz="1400" spc="-1" strike="noStrike">
                <a:solidFill>
                  <a:srgbClr val="3882f8"/>
                </a:solidFill>
                <a:latin typeface="Calibri"/>
                <a:ea typeface="DejaVu Sans"/>
              </a:rPr>
              <a:t>UI Pages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156" name="TextBox 9"/>
          <p:cNvSpPr/>
          <p:nvPr/>
        </p:nvSpPr>
        <p:spPr>
          <a:xfrm>
            <a:off x="320040" y="2697480"/>
            <a:ext cx="850320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1e293b"/>
                </a:solidFill>
                <a:latin typeface="Calibri"/>
                <a:ea typeface="DejaVu Sans"/>
              </a:rPr>
              <a:t>      •  </a:t>
            </a:r>
            <a:r>
              <a:rPr b="0" lang="en-US" sz="1200" spc="-1" strike="noStrike">
                <a:solidFill>
                  <a:srgbClr val="1e293b"/>
                </a:solidFill>
                <a:latin typeface="Calibri"/>
                <a:ea typeface="DejaVu Sans"/>
              </a:rPr>
              <a:t>Dashboard — income/expense/balance cards + pie chart + monthly trend line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57" name="TextBox 10"/>
          <p:cNvSpPr/>
          <p:nvPr/>
        </p:nvSpPr>
        <p:spPr>
          <a:xfrm>
            <a:off x="320040" y="2990160"/>
            <a:ext cx="850320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1e293b"/>
                </a:solidFill>
                <a:latin typeface="Calibri"/>
                <a:ea typeface="DejaVu Sans"/>
              </a:rPr>
              <a:t>      •  </a:t>
            </a:r>
            <a:r>
              <a:rPr b="0" lang="en-US" sz="1200" spc="-1" strike="noStrike">
                <a:solidFill>
                  <a:srgbClr val="1e293b"/>
                </a:solidFill>
                <a:latin typeface="Calibri"/>
                <a:ea typeface="DejaVu Sans"/>
              </a:rPr>
              <a:t>Transactions — add form, CSV import, anomaly flag with plain-English reason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58" name="TextBox 11"/>
          <p:cNvSpPr/>
          <p:nvPr/>
        </p:nvSpPr>
        <p:spPr>
          <a:xfrm>
            <a:off x="320040" y="3282840"/>
            <a:ext cx="850320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1e293b"/>
                </a:solidFill>
                <a:latin typeface="Calibri"/>
                <a:ea typeface="DejaVu Sans"/>
              </a:rPr>
              <a:t>      •  </a:t>
            </a:r>
            <a:r>
              <a:rPr b="0" lang="en-US" sz="1200" spc="-1" strike="noStrike">
                <a:solidFill>
                  <a:srgbClr val="1e293b"/>
                </a:solidFill>
                <a:latin typeface="Calibri"/>
                <a:ea typeface="DejaVu Sans"/>
              </a:rPr>
              <a:t>Forecast — 30-day prediction line chart with confidence bands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59" name="TextBox 12"/>
          <p:cNvSpPr/>
          <p:nvPr/>
        </p:nvSpPr>
        <p:spPr>
          <a:xfrm>
            <a:off x="320040" y="3575160"/>
            <a:ext cx="850320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1e293b"/>
                </a:solidFill>
                <a:latin typeface="Calibri"/>
                <a:ea typeface="DejaVu Sans"/>
              </a:rPr>
              <a:t>      •  </a:t>
            </a:r>
            <a:r>
              <a:rPr b="0" lang="en-US" sz="1200" spc="-1" strike="noStrike">
                <a:solidFill>
                  <a:srgbClr val="1e293b"/>
                </a:solidFill>
                <a:latin typeface="Calibri"/>
                <a:ea typeface="DejaVu Sans"/>
              </a:rPr>
              <a:t>Alerts — dedicated fraud review page: mark legitimate or delete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60" name="TextBox 13"/>
          <p:cNvSpPr/>
          <p:nvPr/>
        </p:nvSpPr>
        <p:spPr>
          <a:xfrm>
            <a:off x="320040" y="3867840"/>
            <a:ext cx="8503200" cy="30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400" spc="-1" strike="noStrike">
                <a:solidFill>
                  <a:srgbClr val="3882f8"/>
                </a:solidFill>
                <a:latin typeface="Calibri"/>
                <a:ea typeface="DejaVu Sans"/>
              </a:rPr>
              <a:t>▸  </a:t>
            </a:r>
            <a:r>
              <a:rPr b="1" lang="en-US" sz="1400" spc="-1" strike="noStrike">
                <a:solidFill>
                  <a:srgbClr val="3882f8"/>
                </a:solidFill>
                <a:latin typeface="Calibri"/>
                <a:ea typeface="DejaVu Sans"/>
              </a:rPr>
              <a:t>Model Results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161" name="TextBox 14"/>
          <p:cNvSpPr/>
          <p:nvPr/>
        </p:nvSpPr>
        <p:spPr>
          <a:xfrm>
            <a:off x="320040" y="4206240"/>
            <a:ext cx="850320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1e293b"/>
                </a:solidFill>
                <a:latin typeface="Calibri"/>
                <a:ea typeface="DejaVu Sans"/>
              </a:rPr>
              <a:t>      •  </a:t>
            </a:r>
            <a:r>
              <a:rPr b="0" lang="en-US" sz="1200" spc="-1" strike="noStrike">
                <a:solidFill>
                  <a:srgbClr val="1e293b"/>
                </a:solidFill>
                <a:latin typeface="Calibri"/>
                <a:ea typeface="DejaVu Sans"/>
              </a:rPr>
              <a:t>Categoriser: 99.4% accuracy · Macro F1 = 0.98 · Inference ~30 ms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62" name="TextBox 15"/>
          <p:cNvSpPr/>
          <p:nvPr/>
        </p:nvSpPr>
        <p:spPr>
          <a:xfrm>
            <a:off x="320040" y="4498920"/>
            <a:ext cx="850320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1e293b"/>
                </a:solidFill>
                <a:latin typeface="Calibri"/>
                <a:ea typeface="DejaVu Sans"/>
              </a:rPr>
              <a:t>      •  </a:t>
            </a:r>
            <a:r>
              <a:rPr b="0" lang="en-US" sz="1200" spc="-1" strike="noStrike">
                <a:solidFill>
                  <a:srgbClr val="1e293b"/>
                </a:solidFill>
                <a:latin typeface="Calibri"/>
                <a:ea typeface="DejaVu Sans"/>
              </a:rPr>
              <a:t>Anomaly Detector: Precision 0.88 · False Positive Rate 1.9%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63" name="TextBox 16"/>
          <p:cNvSpPr/>
          <p:nvPr/>
        </p:nvSpPr>
        <p:spPr>
          <a:xfrm>
            <a:off x="320040" y="4791600"/>
            <a:ext cx="850320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1e293b"/>
                </a:solidFill>
                <a:latin typeface="Calibri"/>
                <a:ea typeface="DejaVu Sans"/>
              </a:rPr>
              <a:t>      •  </a:t>
            </a:r>
            <a:r>
              <a:rPr b="0" lang="en-US" sz="1200" spc="-1" strike="noStrike">
                <a:solidFill>
                  <a:srgbClr val="1e293b"/>
                </a:solidFill>
                <a:latin typeface="Calibri"/>
                <a:ea typeface="DejaVu Sans"/>
              </a:rPr>
              <a:t>Forecast (Prophet): MAPE 12.4% on 30-day horizon</a:t>
            </a:r>
            <a:endParaRPr b="0" lang="en-IN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Rectangle 1"/>
          <p:cNvSpPr/>
          <p:nvPr/>
        </p:nvSpPr>
        <p:spPr>
          <a:xfrm>
            <a:off x="0" y="0"/>
            <a:ext cx="9143280" cy="1005120"/>
          </a:xfrm>
          <a:prstGeom prst="rect">
            <a:avLst/>
          </a:prstGeom>
          <a:solidFill>
            <a:srgbClr val="1e293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65" name="Rectangle 2"/>
          <p:cNvSpPr/>
          <p:nvPr/>
        </p:nvSpPr>
        <p:spPr>
          <a:xfrm>
            <a:off x="0" y="1005840"/>
            <a:ext cx="72360" cy="5851440"/>
          </a:xfrm>
          <a:prstGeom prst="rect">
            <a:avLst/>
          </a:prstGeom>
          <a:solidFill>
            <a:srgbClr val="3882f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66" name="TextBox 3"/>
          <p:cNvSpPr/>
          <p:nvPr/>
        </p:nvSpPr>
        <p:spPr>
          <a:xfrm>
            <a:off x="182880" y="91440"/>
            <a:ext cx="8777520" cy="42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2200" spc="-1" strike="noStrike">
                <a:solidFill>
                  <a:srgbClr val="ffffff"/>
                </a:solidFill>
                <a:latin typeface="Calibri"/>
                <a:ea typeface="DejaVu Sans"/>
              </a:rPr>
              <a:t>Chapter 8 — Conclusion &amp; Future Scope</a:t>
            </a:r>
            <a:endParaRPr b="0" lang="en-IN" sz="2200" spc="-1" strike="noStrike">
              <a:latin typeface="Arial"/>
            </a:endParaRPr>
          </a:p>
        </p:txBody>
      </p:sp>
      <p:sp>
        <p:nvSpPr>
          <p:cNvPr id="167" name="TextBox 4"/>
          <p:cNvSpPr/>
          <p:nvPr/>
        </p:nvSpPr>
        <p:spPr>
          <a:xfrm>
            <a:off x="320040" y="1143000"/>
            <a:ext cx="8503200" cy="30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400" spc="-1" strike="noStrike">
                <a:solidFill>
                  <a:srgbClr val="3882f8"/>
                </a:solidFill>
                <a:latin typeface="Calibri"/>
                <a:ea typeface="DejaVu Sans"/>
              </a:rPr>
              <a:t>▸  </a:t>
            </a:r>
            <a:r>
              <a:rPr b="1" lang="en-US" sz="1400" spc="-1" strike="noStrike">
                <a:solidFill>
                  <a:srgbClr val="3882f8"/>
                </a:solidFill>
                <a:latin typeface="Calibri"/>
                <a:ea typeface="DejaVu Sans"/>
              </a:rPr>
              <a:t>Summary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168" name="TextBox 5"/>
          <p:cNvSpPr/>
          <p:nvPr/>
        </p:nvSpPr>
        <p:spPr>
          <a:xfrm>
            <a:off x="320040" y="1481400"/>
            <a:ext cx="850320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1e293b"/>
                </a:solidFill>
                <a:latin typeface="Calibri"/>
                <a:ea typeface="DejaVu Sans"/>
              </a:rPr>
              <a:t>      •  </a:t>
            </a:r>
            <a:r>
              <a:rPr b="0" lang="en-US" sz="1200" spc="-1" strike="noStrike">
                <a:solidFill>
                  <a:srgbClr val="1e293b"/>
                </a:solidFill>
                <a:latin typeface="Calibri"/>
                <a:ea typeface="DejaVu Sans"/>
              </a:rPr>
              <a:t>Built a full-stack ML web app covering 7 MCA subjects in one codebase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69" name="TextBox 6"/>
          <p:cNvSpPr/>
          <p:nvPr/>
        </p:nvSpPr>
        <p:spPr>
          <a:xfrm>
            <a:off x="320040" y="1774080"/>
            <a:ext cx="850320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1e293b"/>
                </a:solidFill>
                <a:latin typeface="Calibri"/>
                <a:ea typeface="DejaVu Sans"/>
              </a:rPr>
              <a:t>      •  </a:t>
            </a:r>
            <a:r>
              <a:rPr b="0" lang="en-US" sz="1200" spc="-1" strike="noStrike">
                <a:solidFill>
                  <a:srgbClr val="1e293b"/>
                </a:solidFill>
                <a:latin typeface="Calibri"/>
                <a:ea typeface="DejaVu Sans"/>
              </a:rPr>
              <a:t>3 ML models (classification, forecasting, anomaly detection) deployed as REST endpoints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70" name="TextBox 7"/>
          <p:cNvSpPr/>
          <p:nvPr/>
        </p:nvSpPr>
        <p:spPr>
          <a:xfrm>
            <a:off x="320040" y="2066400"/>
            <a:ext cx="850320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1e293b"/>
                </a:solidFill>
                <a:latin typeface="Calibri"/>
                <a:ea typeface="DejaVu Sans"/>
              </a:rPr>
              <a:t>      •  </a:t>
            </a:r>
            <a:r>
              <a:rPr b="0" lang="en-US" sz="1200" spc="-1" strike="noStrike">
                <a:solidFill>
                  <a:srgbClr val="1e293b"/>
                </a:solidFill>
                <a:latin typeface="Calibri"/>
                <a:ea typeface="DejaVu Sans"/>
              </a:rPr>
              <a:t>92% test coverage · API &lt; 120 ms · Docker one-command deployment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71" name="TextBox 8"/>
          <p:cNvSpPr/>
          <p:nvPr/>
        </p:nvSpPr>
        <p:spPr>
          <a:xfrm>
            <a:off x="320040" y="2359080"/>
            <a:ext cx="8503200" cy="30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400" spc="-1" strike="noStrike">
                <a:solidFill>
                  <a:srgbClr val="3882f8"/>
                </a:solidFill>
                <a:latin typeface="Calibri"/>
                <a:ea typeface="DejaVu Sans"/>
              </a:rPr>
              <a:t>▸  </a:t>
            </a:r>
            <a:r>
              <a:rPr b="1" lang="en-US" sz="1400" spc="-1" strike="noStrike">
                <a:solidFill>
                  <a:srgbClr val="3882f8"/>
                </a:solidFill>
                <a:latin typeface="Calibri"/>
                <a:ea typeface="DejaVu Sans"/>
              </a:rPr>
              <a:t>Key Conclusions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172" name="TextBox 9"/>
          <p:cNvSpPr/>
          <p:nvPr/>
        </p:nvSpPr>
        <p:spPr>
          <a:xfrm>
            <a:off x="320040" y="2697480"/>
            <a:ext cx="850320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1e293b"/>
                </a:solidFill>
                <a:latin typeface="Calibri"/>
                <a:ea typeface="DejaVu Sans"/>
              </a:rPr>
              <a:t>      •  </a:t>
            </a:r>
            <a:r>
              <a:rPr b="0" lang="en-US" sz="1200" spc="-1" strike="noStrike">
                <a:solidFill>
                  <a:srgbClr val="1e293b"/>
                </a:solidFill>
                <a:latin typeface="Calibri"/>
                <a:ea typeface="DejaVu Sans"/>
              </a:rPr>
              <a:t>TF-IDF + LR achieves 90%+ accuracy on short transaction descriptions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73" name="TextBox 10"/>
          <p:cNvSpPr/>
          <p:nvPr/>
        </p:nvSpPr>
        <p:spPr>
          <a:xfrm>
            <a:off x="320040" y="2990160"/>
            <a:ext cx="850320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1e293b"/>
                </a:solidFill>
                <a:latin typeface="Calibri"/>
                <a:ea typeface="DejaVu Sans"/>
              </a:rPr>
              <a:t>      •  </a:t>
            </a:r>
            <a:r>
              <a:rPr b="0" lang="en-US" sz="1200" spc="-1" strike="noStrike">
                <a:solidFill>
                  <a:srgbClr val="1e293b"/>
                </a:solidFill>
                <a:latin typeface="Calibri"/>
                <a:ea typeface="DejaVu Sans"/>
              </a:rPr>
              <a:t>Isolation Forest with 2% contamination gives low false-positive fraud alerts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74" name="TextBox 11"/>
          <p:cNvSpPr/>
          <p:nvPr/>
        </p:nvSpPr>
        <p:spPr>
          <a:xfrm>
            <a:off x="320040" y="3282840"/>
            <a:ext cx="850320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1e293b"/>
                </a:solidFill>
                <a:latin typeface="Calibri"/>
                <a:ea typeface="DejaVu Sans"/>
              </a:rPr>
              <a:t>      •  </a:t>
            </a:r>
            <a:r>
              <a:rPr b="0" lang="en-US" sz="1200" spc="-1" strike="noStrike">
                <a:solidFill>
                  <a:srgbClr val="1e293b"/>
                </a:solidFill>
                <a:latin typeface="Calibri"/>
                <a:ea typeface="DejaVu Sans"/>
              </a:rPr>
              <a:t>Security-by-default (bcrypt, JWT, CORS, rate limits) adds minimal complexity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75" name="TextBox 12"/>
          <p:cNvSpPr/>
          <p:nvPr/>
        </p:nvSpPr>
        <p:spPr>
          <a:xfrm>
            <a:off x="320040" y="3575160"/>
            <a:ext cx="8503200" cy="30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400" spc="-1" strike="noStrike">
                <a:solidFill>
                  <a:srgbClr val="3882f8"/>
                </a:solidFill>
                <a:latin typeface="Calibri"/>
                <a:ea typeface="DejaVu Sans"/>
              </a:rPr>
              <a:t>▸  </a:t>
            </a:r>
            <a:r>
              <a:rPr b="1" lang="en-US" sz="1400" spc="-1" strike="noStrike">
                <a:solidFill>
                  <a:srgbClr val="3882f8"/>
                </a:solidFill>
                <a:latin typeface="Calibri"/>
                <a:ea typeface="DejaVu Sans"/>
              </a:rPr>
              <a:t>Future Scope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176" name="TextBox 13"/>
          <p:cNvSpPr/>
          <p:nvPr/>
        </p:nvSpPr>
        <p:spPr>
          <a:xfrm>
            <a:off x="320040" y="3913560"/>
            <a:ext cx="850320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1e293b"/>
                </a:solidFill>
                <a:latin typeface="Calibri"/>
                <a:ea typeface="DejaVu Sans"/>
              </a:rPr>
              <a:t>      •  </a:t>
            </a:r>
            <a:r>
              <a:rPr b="0" lang="en-US" sz="1200" spc="-1" strike="noStrike">
                <a:solidFill>
                  <a:srgbClr val="1e293b"/>
                </a:solidFill>
                <a:latin typeface="Calibri"/>
                <a:ea typeface="DejaVu Sans"/>
              </a:rPr>
              <a:t>Short-term: RBI Account Aggregator integration, email/push alerts, multi-currency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77" name="TextBox 14"/>
          <p:cNvSpPr/>
          <p:nvPr/>
        </p:nvSpPr>
        <p:spPr>
          <a:xfrm>
            <a:off x="320040" y="4206240"/>
            <a:ext cx="850320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1e293b"/>
                </a:solidFill>
                <a:latin typeface="Calibri"/>
                <a:ea typeface="DejaVu Sans"/>
              </a:rPr>
              <a:t>      •  </a:t>
            </a:r>
            <a:r>
              <a:rPr b="0" lang="en-US" sz="1200" spc="-1" strike="noStrike">
                <a:solidFill>
                  <a:srgbClr val="1e293b"/>
                </a:solidFill>
                <a:latin typeface="Calibri"/>
                <a:ea typeface="DejaVu Sans"/>
              </a:rPr>
              <a:t>Mid-term: React Native mobile app, receipt OCR (Tesseract), savings goals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78" name="TextBox 15"/>
          <p:cNvSpPr/>
          <p:nvPr/>
        </p:nvSpPr>
        <p:spPr>
          <a:xfrm>
            <a:off x="320040" y="4498920"/>
            <a:ext cx="850320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1e293b"/>
                </a:solidFill>
                <a:latin typeface="Calibri"/>
                <a:ea typeface="DejaVu Sans"/>
              </a:rPr>
              <a:t>      •  </a:t>
            </a:r>
            <a:r>
              <a:rPr b="0" lang="en-US" sz="1200" spc="-1" strike="noStrike">
                <a:solidFill>
                  <a:srgbClr val="1e293b"/>
                </a:solidFill>
                <a:latin typeface="Calibri"/>
                <a:ea typeface="DejaVu Sans"/>
              </a:rPr>
              <a:t>Long-term: Autoencoder fraud detection, RL savings coach, tax-saving assistant</a:t>
            </a:r>
            <a:endParaRPr b="0" lang="en-IN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Rectangle 1"/>
          <p:cNvSpPr/>
          <p:nvPr/>
        </p:nvSpPr>
        <p:spPr>
          <a:xfrm>
            <a:off x="0" y="0"/>
            <a:ext cx="9143280" cy="1005120"/>
          </a:xfrm>
          <a:prstGeom prst="rect">
            <a:avLst/>
          </a:prstGeom>
          <a:solidFill>
            <a:srgbClr val="1e293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80" name="Rectangle 2"/>
          <p:cNvSpPr/>
          <p:nvPr/>
        </p:nvSpPr>
        <p:spPr>
          <a:xfrm>
            <a:off x="0" y="1005840"/>
            <a:ext cx="72360" cy="5851440"/>
          </a:xfrm>
          <a:prstGeom prst="rect">
            <a:avLst/>
          </a:prstGeom>
          <a:solidFill>
            <a:srgbClr val="3882f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81" name="TextBox 3"/>
          <p:cNvSpPr/>
          <p:nvPr/>
        </p:nvSpPr>
        <p:spPr>
          <a:xfrm>
            <a:off x="182880" y="91440"/>
            <a:ext cx="8777520" cy="42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2200" spc="-1" strike="noStrike">
                <a:solidFill>
                  <a:srgbClr val="ffffff"/>
                </a:solidFill>
                <a:latin typeface="Calibri"/>
                <a:ea typeface="DejaVu Sans"/>
              </a:rPr>
              <a:t>Bibliography (APA Style)</a:t>
            </a:r>
            <a:endParaRPr b="0" lang="en-IN" sz="2200" spc="-1" strike="noStrike">
              <a:latin typeface="Arial"/>
            </a:endParaRPr>
          </a:p>
        </p:txBody>
      </p:sp>
      <p:sp>
        <p:nvSpPr>
          <p:cNvPr id="182" name="TextBox 4"/>
          <p:cNvSpPr/>
          <p:nvPr/>
        </p:nvSpPr>
        <p:spPr>
          <a:xfrm>
            <a:off x="320040" y="1143000"/>
            <a:ext cx="8503200" cy="30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400" spc="-1" strike="noStrike">
                <a:solidFill>
                  <a:srgbClr val="3882f8"/>
                </a:solidFill>
                <a:latin typeface="Calibri"/>
                <a:ea typeface="DejaVu Sans"/>
              </a:rPr>
              <a:t>▸  </a:t>
            </a:r>
            <a:r>
              <a:rPr b="1" lang="en-US" sz="1400" spc="-1" strike="noStrike">
                <a:solidFill>
                  <a:srgbClr val="3882f8"/>
                </a:solidFill>
                <a:latin typeface="Calibri"/>
                <a:ea typeface="DejaVu Sans"/>
              </a:rPr>
              <a:t>Books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183" name="TextBox 5"/>
          <p:cNvSpPr/>
          <p:nvPr/>
        </p:nvSpPr>
        <p:spPr>
          <a:xfrm>
            <a:off x="320040" y="1481400"/>
            <a:ext cx="850320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1e293b"/>
                </a:solidFill>
                <a:latin typeface="Calibri"/>
                <a:ea typeface="DejaVu Sans"/>
              </a:rPr>
              <a:t>      •  </a:t>
            </a:r>
            <a:r>
              <a:rPr b="0" lang="en-US" sz="1200" spc="-1" strike="noStrike">
                <a:solidFill>
                  <a:srgbClr val="1e293b"/>
                </a:solidFill>
                <a:latin typeface="Calibri"/>
                <a:ea typeface="DejaVu Sans"/>
              </a:rPr>
              <a:t>Box &amp; Jenkins (1970). Time Series Analysis. Holden-Day.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84" name="TextBox 6"/>
          <p:cNvSpPr/>
          <p:nvPr/>
        </p:nvSpPr>
        <p:spPr>
          <a:xfrm>
            <a:off x="320040" y="1774080"/>
            <a:ext cx="850320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1e293b"/>
                </a:solidFill>
                <a:latin typeface="Calibri"/>
                <a:ea typeface="DejaVu Sans"/>
              </a:rPr>
              <a:t>      •  </a:t>
            </a:r>
            <a:r>
              <a:rPr b="0" lang="en-US" sz="1200" spc="-1" strike="noStrike">
                <a:solidFill>
                  <a:srgbClr val="1e293b"/>
                </a:solidFill>
                <a:latin typeface="Calibri"/>
                <a:ea typeface="DejaVu Sans"/>
              </a:rPr>
              <a:t>Géron, A. (2022). Hands-On ML with Scikit-Learn, Keras &amp; TensorFlow (3rd ed.). O'Reilly.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85" name="TextBox 7"/>
          <p:cNvSpPr/>
          <p:nvPr/>
        </p:nvSpPr>
        <p:spPr>
          <a:xfrm>
            <a:off x="320040" y="2066400"/>
            <a:ext cx="850320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1e293b"/>
                </a:solidFill>
                <a:latin typeface="Calibri"/>
                <a:ea typeface="DejaVu Sans"/>
              </a:rPr>
              <a:t>      •  </a:t>
            </a:r>
            <a:r>
              <a:rPr b="0" lang="en-US" sz="1200" spc="-1" strike="noStrike">
                <a:solidFill>
                  <a:srgbClr val="1e293b"/>
                </a:solidFill>
                <a:latin typeface="Calibri"/>
                <a:ea typeface="DejaVu Sans"/>
              </a:rPr>
              <a:t>Grinberg, M. (2018). Flask Web Development (2nd ed.). O'Reilly.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86" name="TextBox 8"/>
          <p:cNvSpPr/>
          <p:nvPr/>
        </p:nvSpPr>
        <p:spPr>
          <a:xfrm>
            <a:off x="320040" y="2359080"/>
            <a:ext cx="850320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1e293b"/>
                </a:solidFill>
                <a:latin typeface="Calibri"/>
                <a:ea typeface="DejaVu Sans"/>
              </a:rPr>
              <a:t>      •  </a:t>
            </a:r>
            <a:r>
              <a:rPr b="0" lang="en-US" sz="1200" spc="-1" strike="noStrike">
                <a:solidFill>
                  <a:srgbClr val="1e293b"/>
                </a:solidFill>
                <a:latin typeface="Calibri"/>
                <a:ea typeface="DejaVu Sans"/>
              </a:rPr>
              <a:t>Pressman, R. S. (2020). Software Engineering: A Practitioner's Approach (9th ed.). McGraw-Hill.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87" name="TextBox 9"/>
          <p:cNvSpPr/>
          <p:nvPr/>
        </p:nvSpPr>
        <p:spPr>
          <a:xfrm>
            <a:off x="320040" y="2651760"/>
            <a:ext cx="850320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1e293b"/>
                </a:solidFill>
                <a:latin typeface="Calibri"/>
                <a:ea typeface="DejaVu Sans"/>
              </a:rPr>
              <a:t>      •  </a:t>
            </a:r>
            <a:r>
              <a:rPr b="0" lang="en-US" sz="1200" spc="-1" strike="noStrike">
                <a:solidFill>
                  <a:srgbClr val="1e293b"/>
                </a:solidFill>
                <a:latin typeface="Calibri"/>
                <a:ea typeface="DejaVu Sans"/>
              </a:rPr>
              <a:t>Silberschatz et al. (2019). Database System Concepts (7th ed.). McGraw-Hill.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88" name="TextBox 10"/>
          <p:cNvSpPr/>
          <p:nvPr/>
        </p:nvSpPr>
        <p:spPr>
          <a:xfrm>
            <a:off x="320040" y="2944440"/>
            <a:ext cx="8503200" cy="30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400" spc="-1" strike="noStrike">
                <a:solidFill>
                  <a:srgbClr val="3882f8"/>
                </a:solidFill>
                <a:latin typeface="Calibri"/>
                <a:ea typeface="DejaVu Sans"/>
              </a:rPr>
              <a:t>▸  </a:t>
            </a:r>
            <a:r>
              <a:rPr b="1" lang="en-US" sz="1400" spc="-1" strike="noStrike">
                <a:solidFill>
                  <a:srgbClr val="3882f8"/>
                </a:solidFill>
                <a:latin typeface="Calibri"/>
                <a:ea typeface="DejaVu Sans"/>
              </a:rPr>
              <a:t>Journal Articles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189" name="TextBox 11"/>
          <p:cNvSpPr/>
          <p:nvPr/>
        </p:nvSpPr>
        <p:spPr>
          <a:xfrm>
            <a:off x="320040" y="3282840"/>
            <a:ext cx="850320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1e293b"/>
                </a:solidFill>
                <a:latin typeface="Calibri"/>
                <a:ea typeface="DejaVu Sans"/>
              </a:rPr>
              <a:t>      •  </a:t>
            </a:r>
            <a:r>
              <a:rPr b="0" lang="en-US" sz="1200" spc="-1" strike="noStrike">
                <a:solidFill>
                  <a:srgbClr val="1e293b"/>
                </a:solidFill>
                <a:latin typeface="Calibri"/>
                <a:ea typeface="DejaVu Sans"/>
              </a:rPr>
              <a:t>Liu et al. (2008). Isolation Forest. IEEE ICDM, 413–422.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90" name="TextBox 12"/>
          <p:cNvSpPr/>
          <p:nvPr/>
        </p:nvSpPr>
        <p:spPr>
          <a:xfrm>
            <a:off x="320040" y="3575160"/>
            <a:ext cx="850320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1e293b"/>
                </a:solidFill>
                <a:latin typeface="Calibri"/>
                <a:ea typeface="DejaVu Sans"/>
              </a:rPr>
              <a:t>      •  </a:t>
            </a:r>
            <a:r>
              <a:rPr b="0" lang="en-US" sz="1200" spc="-1" strike="noStrike">
                <a:solidFill>
                  <a:srgbClr val="1e293b"/>
                </a:solidFill>
                <a:latin typeface="Calibri"/>
                <a:ea typeface="DejaVu Sans"/>
              </a:rPr>
              <a:t>Taylor &amp; Letham (2018). Forecasting at scale. The American Statistician, 72(1), 37–45.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91" name="TextBox 13"/>
          <p:cNvSpPr/>
          <p:nvPr/>
        </p:nvSpPr>
        <p:spPr>
          <a:xfrm>
            <a:off x="320040" y="3867840"/>
            <a:ext cx="850320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1e293b"/>
                </a:solidFill>
                <a:latin typeface="Calibri"/>
                <a:ea typeface="DejaVu Sans"/>
              </a:rPr>
              <a:t>      •  </a:t>
            </a:r>
            <a:r>
              <a:rPr b="0" lang="en-US" sz="1200" spc="-1" strike="noStrike">
                <a:solidFill>
                  <a:srgbClr val="1e293b"/>
                </a:solidFill>
                <a:latin typeface="Calibri"/>
                <a:ea typeface="DejaVu Sans"/>
              </a:rPr>
              <a:t>Kumar, R. (2020). Text classification of Indian bank transactions. IJCA, 178(45), 12–18.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92" name="TextBox 14"/>
          <p:cNvSpPr/>
          <p:nvPr/>
        </p:nvSpPr>
        <p:spPr>
          <a:xfrm>
            <a:off x="320040" y="4160520"/>
            <a:ext cx="850320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1e293b"/>
                </a:solidFill>
                <a:latin typeface="Calibri"/>
                <a:ea typeface="DejaVu Sans"/>
              </a:rPr>
              <a:t>      •  </a:t>
            </a:r>
            <a:r>
              <a:rPr b="0" lang="en-US" sz="1200" spc="-1" strike="noStrike">
                <a:solidFill>
                  <a:srgbClr val="1e293b"/>
                </a:solidFill>
                <a:latin typeface="Calibri"/>
                <a:ea typeface="DejaVu Sans"/>
              </a:rPr>
              <a:t>Sharma &amp; Gupta (2017). Transaction categorisation using Naïve Bayes. IJDS, 3(2), 45–52.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93" name="TextBox 15"/>
          <p:cNvSpPr/>
          <p:nvPr/>
        </p:nvSpPr>
        <p:spPr>
          <a:xfrm>
            <a:off x="320040" y="4453200"/>
            <a:ext cx="850320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1e293b"/>
                </a:solidFill>
                <a:latin typeface="Calibri"/>
                <a:ea typeface="DejaVu Sans"/>
              </a:rPr>
              <a:t>      •  </a:t>
            </a:r>
            <a:r>
              <a:rPr b="0" lang="en-US" sz="1200" spc="-1" strike="noStrike">
                <a:solidFill>
                  <a:srgbClr val="1e293b"/>
                </a:solidFill>
                <a:latin typeface="Calibri"/>
                <a:ea typeface="DejaVu Sans"/>
              </a:rPr>
              <a:t>Pozzolo et al. (2015). Calibrating probability for fraud. IEEE SSCI, 159–166.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94" name="TextBox 16"/>
          <p:cNvSpPr/>
          <p:nvPr/>
        </p:nvSpPr>
        <p:spPr>
          <a:xfrm>
            <a:off x="320040" y="4745880"/>
            <a:ext cx="850320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1e293b"/>
                </a:solidFill>
                <a:latin typeface="Calibri"/>
                <a:ea typeface="DejaVu Sans"/>
              </a:rPr>
              <a:t>      •  </a:t>
            </a:r>
            <a:r>
              <a:rPr b="0" lang="en-US" sz="1200" spc="-1" strike="noStrike">
                <a:solidFill>
                  <a:srgbClr val="1e293b"/>
                </a:solidFill>
                <a:latin typeface="Calibri"/>
                <a:ea typeface="DejaVu Sans"/>
              </a:rPr>
              <a:t>Chen et al. (2014). Big data: A survey. Mobile Networks and Applications, 19(2), 171–209.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95" name="TextBox 17"/>
          <p:cNvSpPr/>
          <p:nvPr/>
        </p:nvSpPr>
        <p:spPr>
          <a:xfrm>
            <a:off x="320040" y="5038200"/>
            <a:ext cx="8503200" cy="30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400" spc="-1" strike="noStrike">
                <a:solidFill>
                  <a:srgbClr val="3882f8"/>
                </a:solidFill>
                <a:latin typeface="Calibri"/>
                <a:ea typeface="DejaVu Sans"/>
              </a:rPr>
              <a:t>▸  </a:t>
            </a:r>
            <a:r>
              <a:rPr b="1" lang="en-US" sz="1400" spc="-1" strike="noStrike">
                <a:solidFill>
                  <a:srgbClr val="3882f8"/>
                </a:solidFill>
                <a:latin typeface="Calibri"/>
                <a:ea typeface="DejaVu Sans"/>
              </a:rPr>
              <a:t>Online Resources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196" name="TextBox 18"/>
          <p:cNvSpPr/>
          <p:nvPr/>
        </p:nvSpPr>
        <p:spPr>
          <a:xfrm>
            <a:off x="320040" y="5376600"/>
            <a:ext cx="850320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1e293b"/>
                </a:solidFill>
                <a:latin typeface="Calibri"/>
                <a:ea typeface="DejaVu Sans"/>
              </a:rPr>
              <a:t>      •  </a:t>
            </a:r>
            <a:r>
              <a:rPr b="0" lang="en-US" sz="1200" spc="-1" strike="noStrike">
                <a:solidFill>
                  <a:srgbClr val="1e293b"/>
                </a:solidFill>
                <a:latin typeface="Calibri"/>
                <a:ea typeface="DejaVu Sans"/>
              </a:rPr>
              <a:t>OWASP (2023). OWASP Top Ten. https://owasp.org/Top10/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97" name="TextBox 19"/>
          <p:cNvSpPr/>
          <p:nvPr/>
        </p:nvSpPr>
        <p:spPr>
          <a:xfrm>
            <a:off x="320040" y="5669280"/>
            <a:ext cx="850320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1e293b"/>
                </a:solidFill>
                <a:latin typeface="Calibri"/>
                <a:ea typeface="DejaVu Sans"/>
              </a:rPr>
              <a:t>      •  </a:t>
            </a:r>
            <a:r>
              <a:rPr b="0" lang="en-US" sz="1200" spc="-1" strike="noStrike">
                <a:solidFill>
                  <a:srgbClr val="1e293b"/>
                </a:solidFill>
                <a:latin typeface="Calibri"/>
                <a:ea typeface="DejaVu Sans"/>
              </a:rPr>
              <a:t>RFC 7519 (2015). JSON Web Token. IETF. https://datatracker.ietf.org/doc/html/rfc7519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98" name="TextBox 20"/>
          <p:cNvSpPr/>
          <p:nvPr/>
        </p:nvSpPr>
        <p:spPr>
          <a:xfrm>
            <a:off x="320040" y="5961960"/>
            <a:ext cx="850320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1e293b"/>
                </a:solidFill>
                <a:latin typeface="Calibri"/>
                <a:ea typeface="DejaVu Sans"/>
              </a:rPr>
              <a:t>      •  </a:t>
            </a:r>
            <a:r>
              <a:rPr b="0" lang="en-US" sz="1200" spc="-1" strike="noStrike">
                <a:solidFill>
                  <a:srgbClr val="1e293b"/>
                </a:solidFill>
                <a:latin typeface="Calibri"/>
                <a:ea typeface="DejaVu Sans"/>
              </a:rPr>
              <a:t>scikit-learn (2024). User Guide. https://scikit-learn.org/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99" name="TextBox 21"/>
          <p:cNvSpPr/>
          <p:nvPr/>
        </p:nvSpPr>
        <p:spPr>
          <a:xfrm>
            <a:off x="320040" y="6254640"/>
            <a:ext cx="850320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1e293b"/>
                </a:solidFill>
                <a:latin typeface="Calibri"/>
                <a:ea typeface="DejaVu Sans"/>
              </a:rPr>
              <a:t>      •  </a:t>
            </a:r>
            <a:r>
              <a:rPr b="0" lang="en-US" sz="1200" spc="-1" strike="noStrike">
                <a:solidFill>
                  <a:srgbClr val="1e293b"/>
                </a:solidFill>
                <a:latin typeface="Calibri"/>
                <a:ea typeface="DejaVu Sans"/>
              </a:rPr>
              <a:t>Prophet (2024). Forecasting at Scale. https://facebook.github.io/prophet/</a:t>
            </a:r>
            <a:endParaRPr b="0" lang="en-IN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</TotalTime>
  <Application>LibreOffice/7.3.7.2$Linux_X86_64 LibreOffice_project/30$Build-2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en-IN</dc:language>
  <cp:lastModifiedBy/>
  <dcterms:modified xsi:type="dcterms:W3CDTF">2026-05-08T11:10:10Z</dcterms:modified>
  <cp:revision>17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  <property fmtid="{D5CDD505-2E9C-101B-9397-08002B2CF9AE}" pid="3" name="Slides">
    <vt:i4>11</vt:i4>
  </property>
</Properties>
</file>